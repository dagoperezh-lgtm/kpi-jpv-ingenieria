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9"/>
  </p:notesMasterIdLst>
  <p:sldIdLst>
    <p:sldId id="263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Prob. Cierre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65F4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D6EC-4EAA-988D-4A6807145DEA}"/>
              </c:ext>
            </c:extLst>
          </c:dPt>
          <c:dPt>
            <c:idx val="1"/>
            <c:bubble3D val="0"/>
            <c:spPr>
              <a:solidFill>
                <a:srgbClr val="0D737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D6EC-4EAA-988D-4A6807145DEA}"/>
              </c:ext>
            </c:extLst>
          </c:dPt>
          <c:dPt>
            <c:idx val="2"/>
            <c:bubble3D val="0"/>
            <c:spPr>
              <a:solidFill>
                <a:srgbClr val="B4530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D6EC-4EAA-988D-4A6807145DEA}"/>
              </c:ext>
            </c:extLst>
          </c:dPt>
          <c:dPt>
            <c:idx val="3"/>
            <c:bubble3D val="0"/>
            <c:spPr>
              <a:solidFill>
                <a:srgbClr val="991B1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D6EC-4EAA-988D-4A6807145DEA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s-CL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D6EC-4EAA-988D-4A6807145DEA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s-CL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D6EC-4EAA-988D-4A6807145DEA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s-CL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D6EC-4EAA-988D-4A6807145DEA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s-CL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D6EC-4EAA-988D-4A6807145DEA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s-CL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100% – Cierta (21)</c:v>
                </c:pt>
                <c:pt idx="1">
                  <c:v>75% – Alt. probable (8)</c:v>
                </c:pt>
                <c:pt idx="2">
                  <c:v>50% – Podría ser (1)</c:v>
                </c:pt>
                <c:pt idx="3">
                  <c:v>0% – Nula (1)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</c:v>
                </c:pt>
                <c:pt idx="1">
                  <c:v>8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D6EC-4EAA-988D-4A6807145DE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F7F9F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4470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E61B4-B16D-5215-7D0F-A4A7173E7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0BBA79-987F-809F-F8A4-9FCE6E1553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9E96A4-96C5-D912-FABC-37B3BBCB1F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71DC50-AD1B-21AA-75F5-56B70EA434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1291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5253922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329559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33276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3596180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20393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332989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867355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4101586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0770755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368924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152276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0001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6/9/2026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4446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09F2D-E7BC-4CD1-D9F7-A59571E5B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>
            <a:extLst>
              <a:ext uri="{FF2B5EF4-FFF2-40B4-BE49-F238E27FC236}">
                <a16:creationId xmlns:a16="http://schemas.microsoft.com/office/drawing/2014/main" id="{CD0A3C2E-19A2-AF4E-6F77-BE2101C2F6CB}"/>
              </a:ext>
            </a:extLst>
          </p:cNvPr>
          <p:cNvSpPr/>
          <p:nvPr/>
        </p:nvSpPr>
        <p:spPr>
          <a:xfrm>
            <a:off x="2926080" y="457200"/>
            <a:ext cx="0" cy="4297680"/>
          </a:xfrm>
          <a:prstGeom prst="line">
            <a:avLst/>
          </a:prstGeom>
          <a:noFill/>
          <a:ln w="1905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C7F18605-CC95-37C8-2F82-775CDDD96A55}"/>
              </a:ext>
            </a:extLst>
          </p:cNvPr>
          <p:cNvSpPr/>
          <p:nvPr/>
        </p:nvSpPr>
        <p:spPr>
          <a:xfrm>
            <a:off x="3200400" y="77724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de Cartera</a:t>
            </a:r>
            <a:endParaRPr lang="en-US" sz="34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C89014D-F8D0-3102-40FF-9CF47074EDBF}"/>
              </a:ext>
            </a:extLst>
          </p:cNvPr>
          <p:cNvSpPr/>
          <p:nvPr/>
        </p:nvSpPr>
        <p:spPr>
          <a:xfrm>
            <a:off x="3200400" y="157276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4A8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MARSH S.A. Corredores de Seguros</a:t>
            </a:r>
            <a:endParaRPr lang="en-US" sz="220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DE9DAAAA-0992-7437-A4FF-53511F45DB31}"/>
              </a:ext>
            </a:extLst>
          </p:cNvPr>
          <p:cNvSpPr/>
          <p:nvPr/>
        </p:nvSpPr>
        <p:spPr>
          <a:xfrm>
            <a:off x="3200400" y="2231136"/>
            <a:ext cx="5303520" cy="0"/>
          </a:xfrm>
          <a:prstGeom prst="line">
            <a:avLst/>
          </a:prstGeom>
          <a:noFill/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EEA08C60-D991-6211-37DE-099BDFE5903B}"/>
              </a:ext>
            </a:extLst>
          </p:cNvPr>
          <p:cNvSpPr/>
          <p:nvPr/>
        </p:nvSpPr>
        <p:spPr>
          <a:xfrm>
            <a:off x="3200400" y="2331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 err="1">
                <a:solidFill>
                  <a:srgbClr val="A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Divisiones</a:t>
            </a:r>
            <a:r>
              <a:rPr lang="en-US" sz="1100" i="1" dirty="0">
                <a:solidFill>
                  <a:srgbClr val="A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Ingeniería &amp; Energía y Equipo Móvil</a:t>
            </a:r>
            <a:endParaRPr lang="en-US" sz="11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8CCB3D7C-CE03-88EF-0A68-5EA401AF1155}"/>
              </a:ext>
            </a:extLst>
          </p:cNvPr>
          <p:cNvSpPr/>
          <p:nvPr/>
        </p:nvSpPr>
        <p:spPr>
          <a:xfrm>
            <a:off x="3200400" y="2788920"/>
            <a:ext cx="2011680" cy="420624"/>
          </a:xfrm>
          <a:prstGeom prst="roundRect">
            <a:avLst>
              <a:gd name="adj" fmla="val 17391"/>
            </a:avLst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CL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833071B4-148B-E920-2116-3AA1BC57074B}"/>
              </a:ext>
            </a:extLst>
          </p:cNvPr>
          <p:cNvSpPr/>
          <p:nvPr/>
        </p:nvSpPr>
        <p:spPr>
          <a:xfrm>
            <a:off x="3200400" y="278892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de junio de 2026</a:t>
            </a:r>
            <a:endParaRPr lang="en-US" sz="11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0245F4A4-72E3-6ACF-7522-69EAF2AF986F}"/>
              </a:ext>
            </a:extLst>
          </p:cNvPr>
          <p:cNvSpPr/>
          <p:nvPr/>
        </p:nvSpPr>
        <p:spPr>
          <a:xfrm>
            <a:off x="320040" y="3931920"/>
            <a:ext cx="2606040" cy="987552"/>
          </a:xfrm>
          <a:prstGeom prst="roundRect">
            <a:avLst>
              <a:gd name="adj" fmla="val 9259"/>
            </a:avLst>
          </a:prstGeom>
          <a:solidFill>
            <a:srgbClr val="122036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C498A96-DD27-575C-C129-3C637FD490F2}"/>
              </a:ext>
            </a:extLst>
          </p:cNvPr>
          <p:cNvSpPr/>
          <p:nvPr/>
        </p:nvSpPr>
        <p:spPr>
          <a:xfrm>
            <a:off x="320040" y="395935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accent2">
                    <a:lumMod val="20000"/>
                    <a:lumOff val="8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1700" dirty="0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8F77A791-469E-CBC1-E14A-2AAD0311542D}"/>
              </a:ext>
            </a:extLst>
          </p:cNvPr>
          <p:cNvSpPr/>
          <p:nvPr/>
        </p:nvSpPr>
        <p:spPr>
          <a:xfrm>
            <a:off x="320040" y="446227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activos</a:t>
            </a:r>
            <a:endParaRPr lang="en-US" sz="900" dirty="0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6CAE3260-473F-9FBA-DF95-4EA67051AFA2}"/>
              </a:ext>
            </a:extLst>
          </p:cNvPr>
          <p:cNvSpPr/>
          <p:nvPr/>
        </p:nvSpPr>
        <p:spPr>
          <a:xfrm>
            <a:off x="3154680" y="3931920"/>
            <a:ext cx="2606040" cy="987552"/>
          </a:xfrm>
          <a:prstGeom prst="roundRect">
            <a:avLst>
              <a:gd name="adj" fmla="val 9259"/>
            </a:avLst>
          </a:prstGeom>
          <a:solidFill>
            <a:srgbClr val="122036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0C101CF6-B68F-7FE0-77FC-2CF461533AD9}"/>
              </a:ext>
            </a:extLst>
          </p:cNvPr>
          <p:cNvSpPr/>
          <p:nvPr/>
        </p:nvSpPr>
        <p:spPr>
          <a:xfrm>
            <a:off x="3154680" y="395935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accent2">
                    <a:lumMod val="20000"/>
                    <a:lumOff val="8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340.355 UF</a:t>
            </a:r>
            <a:endParaRPr lang="en-US" sz="1700" dirty="0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B7C10BE0-E498-867F-6077-2C89DFABC178}"/>
              </a:ext>
            </a:extLst>
          </p:cNvPr>
          <p:cNvSpPr/>
          <p:nvPr/>
        </p:nvSpPr>
        <p:spPr>
          <a:xfrm>
            <a:off x="3154680" y="446227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 bruta total UF</a:t>
            </a:r>
            <a:endParaRPr lang="en-US" sz="900" dirty="0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047D39A7-360E-BD63-E1C8-C8D6E33CC0A9}"/>
              </a:ext>
            </a:extLst>
          </p:cNvPr>
          <p:cNvSpPr/>
          <p:nvPr/>
        </p:nvSpPr>
        <p:spPr>
          <a:xfrm>
            <a:off x="5989320" y="3931920"/>
            <a:ext cx="2606040" cy="987552"/>
          </a:xfrm>
          <a:prstGeom prst="roundRect">
            <a:avLst>
              <a:gd name="adj" fmla="val 9259"/>
            </a:avLst>
          </a:prstGeom>
          <a:solidFill>
            <a:srgbClr val="122036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4828B451-5828-F6DC-87BB-92CF06FC49F3}"/>
              </a:ext>
            </a:extLst>
          </p:cNvPr>
          <p:cNvSpPr/>
          <p:nvPr/>
        </p:nvSpPr>
        <p:spPr>
          <a:xfrm>
            <a:off x="5989320" y="395935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accent2">
                    <a:lumMod val="20000"/>
                    <a:lumOff val="8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61,5 M</a:t>
            </a:r>
            <a:endParaRPr lang="en-US" sz="1700" dirty="0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7ACDAE00-A3C5-E3C7-BA7F-326D4D0B16AB}"/>
              </a:ext>
            </a:extLst>
          </p:cNvPr>
          <p:cNvSpPr/>
          <p:nvPr/>
        </p:nvSpPr>
        <p:spPr>
          <a:xfrm>
            <a:off x="5989320" y="446227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 bruta total USD</a:t>
            </a:r>
            <a:endParaRPr lang="en-US" sz="900" dirty="0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pic>
        <p:nvPicPr>
          <p:cNvPr id="22" name="Imagen 21" descr="logoJPV2-[Convertido]">
            <a:extLst>
              <a:ext uri="{FF2B5EF4-FFF2-40B4-BE49-F238E27FC236}">
                <a16:creationId xmlns:a16="http://schemas.microsoft.com/office/drawing/2014/main" id="{958F3463-111C-715E-04D1-3BCC211EF7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039" y="430910"/>
            <a:ext cx="2053451" cy="1052719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4E8204E1-E98C-450B-41FB-1406C09E905B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4A8A0"/>
          </a:solidFill>
          <a:ln w="12700">
            <a:solidFill>
              <a:srgbClr val="14A8A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53221987-ED7F-3276-4578-313385C8DBD7}"/>
              </a:ext>
            </a:extLst>
          </p:cNvPr>
          <p:cNvSpPr/>
          <p:nvPr/>
        </p:nvSpPr>
        <p:spPr>
          <a:xfrm>
            <a:off x="0" y="5047488"/>
            <a:ext cx="9144000" cy="1143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35F93939-52ED-A84B-D9FF-44EFBE93ECF7}"/>
              </a:ext>
            </a:extLst>
          </p:cNvPr>
          <p:cNvSpPr/>
          <p:nvPr/>
        </p:nvSpPr>
        <p:spPr>
          <a:xfrm>
            <a:off x="0" y="5047488"/>
            <a:ext cx="9144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JPV Asociados · Ajustadores Especializados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24814305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508" y="0"/>
            <a:ext cx="8065492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Shape 1"/>
          <p:cNvSpPr/>
          <p:nvPr/>
        </p:nvSpPr>
        <p:spPr>
          <a:xfrm>
            <a:off x="1143000" y="164592"/>
            <a:ext cx="36576" cy="420624"/>
          </a:xfrm>
          <a:prstGeom prst="rect">
            <a:avLst/>
          </a:prstGeom>
          <a:solidFill>
            <a:srgbClr val="14A8A0"/>
          </a:solidFill>
          <a:ln w="12700">
            <a:solidFill>
              <a:srgbClr val="14A8A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1234440" y="82296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GENERAL DE CARTERA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7498080" y="8229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14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MARSH S.A.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Shape 5"/>
          <p:cNvSpPr/>
          <p:nvPr/>
        </p:nvSpPr>
        <p:spPr>
          <a:xfrm>
            <a:off x="256032" y="987552"/>
            <a:ext cx="2724912" cy="175564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D1DDE8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9" name="Shape 6"/>
          <p:cNvSpPr/>
          <p:nvPr/>
        </p:nvSpPr>
        <p:spPr>
          <a:xfrm>
            <a:off x="256032" y="987552"/>
            <a:ext cx="2724912" cy="347472"/>
          </a:xfrm>
          <a:prstGeom prst="roundRect">
            <a:avLst>
              <a:gd name="adj" fmla="val 31579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Shape 7"/>
          <p:cNvSpPr/>
          <p:nvPr/>
        </p:nvSpPr>
        <p:spPr>
          <a:xfrm>
            <a:off x="256032" y="1216152"/>
            <a:ext cx="2724912" cy="1188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8"/>
          <p:cNvSpPr/>
          <p:nvPr/>
        </p:nvSpPr>
        <p:spPr>
          <a:xfrm>
            <a:off x="256032" y="1371600"/>
            <a:ext cx="2724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256032" y="2048256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Cartera activa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56032" y="2377440"/>
            <a:ext cx="2724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en gestión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127248" y="987552"/>
            <a:ext cx="2724912" cy="175564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D1DDE8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5" name="Shape 12"/>
          <p:cNvSpPr/>
          <p:nvPr/>
        </p:nvSpPr>
        <p:spPr>
          <a:xfrm>
            <a:off x="3127248" y="987552"/>
            <a:ext cx="2724912" cy="347472"/>
          </a:xfrm>
          <a:prstGeom prst="roundRect">
            <a:avLst>
              <a:gd name="adj" fmla="val 31579"/>
            </a:avLst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Shape 13"/>
          <p:cNvSpPr/>
          <p:nvPr/>
        </p:nvSpPr>
        <p:spPr>
          <a:xfrm>
            <a:off x="3127248" y="1216152"/>
            <a:ext cx="2724912" cy="1188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" name="Text 14"/>
          <p:cNvSpPr/>
          <p:nvPr/>
        </p:nvSpPr>
        <p:spPr>
          <a:xfrm>
            <a:off x="3127248" y="1371600"/>
            <a:ext cx="2724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/ 1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3127248" y="2048256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División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127248" y="2377440"/>
            <a:ext cx="2724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y Energía  /  Equipo Móvil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5998464" y="987552"/>
            <a:ext cx="2724912" cy="175564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D1DDE8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1" name="Shape 18"/>
          <p:cNvSpPr/>
          <p:nvPr/>
        </p:nvSpPr>
        <p:spPr>
          <a:xfrm>
            <a:off x="5998464" y="987552"/>
            <a:ext cx="2724912" cy="347472"/>
          </a:xfrm>
          <a:prstGeom prst="roundRect">
            <a:avLst>
              <a:gd name="adj" fmla="val 31579"/>
            </a:avLst>
          </a:prstGeom>
          <a:solidFill>
            <a:srgbClr val="2C5F7A"/>
          </a:solidFill>
          <a:ln w="12700">
            <a:solidFill>
              <a:srgbClr val="2C5F7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2" name="Shape 19"/>
          <p:cNvSpPr/>
          <p:nvPr/>
        </p:nvSpPr>
        <p:spPr>
          <a:xfrm>
            <a:off x="5998464" y="1216152"/>
            <a:ext cx="2724912" cy="118872"/>
          </a:xfrm>
          <a:prstGeom prst="rect">
            <a:avLst/>
          </a:prstGeom>
          <a:solidFill>
            <a:srgbClr val="2C5F7A"/>
          </a:solidFill>
          <a:ln w="12700">
            <a:solidFill>
              <a:srgbClr val="2C5F7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3" name="Text 20"/>
          <p:cNvSpPr/>
          <p:nvPr/>
        </p:nvSpPr>
        <p:spPr>
          <a:xfrm>
            <a:off x="5998464" y="1371600"/>
            <a:ext cx="2724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UF · 8 USD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5998464" y="2048256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divisa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5998464" y="2377440"/>
            <a:ext cx="2724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moneda de reserva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256032" y="2907792"/>
            <a:ext cx="2724912" cy="175564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D1DDE8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7" name="Shape 24"/>
          <p:cNvSpPr/>
          <p:nvPr/>
        </p:nvSpPr>
        <p:spPr>
          <a:xfrm>
            <a:off x="256032" y="2907792"/>
            <a:ext cx="2724912" cy="347472"/>
          </a:xfrm>
          <a:prstGeom prst="roundRect">
            <a:avLst>
              <a:gd name="adj" fmla="val 31579"/>
            </a:avLst>
          </a:prstGeom>
          <a:solidFill>
            <a:srgbClr val="1D4E89"/>
          </a:solidFill>
          <a:ln w="12700">
            <a:solidFill>
              <a:srgbClr val="1D4E8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8" name="Shape 25"/>
          <p:cNvSpPr/>
          <p:nvPr/>
        </p:nvSpPr>
        <p:spPr>
          <a:xfrm>
            <a:off x="256032" y="3136392"/>
            <a:ext cx="2724912" cy="118872"/>
          </a:xfrm>
          <a:prstGeom prst="rect">
            <a:avLst/>
          </a:prstGeom>
          <a:solidFill>
            <a:srgbClr val="1D4E89"/>
          </a:solidFill>
          <a:ln w="12700">
            <a:solidFill>
              <a:srgbClr val="1D4E8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9" name="Text 26"/>
          <p:cNvSpPr/>
          <p:nvPr/>
        </p:nvSpPr>
        <p:spPr>
          <a:xfrm>
            <a:off x="256032" y="3291840"/>
            <a:ext cx="2724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340.355 UF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256032" y="3968496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UF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256032" y="4297680"/>
            <a:ext cx="2724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 bruta acumulada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3127248" y="2907792"/>
            <a:ext cx="2724912" cy="175564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D1DDE8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33" name="Shape 30"/>
          <p:cNvSpPr/>
          <p:nvPr/>
        </p:nvSpPr>
        <p:spPr>
          <a:xfrm>
            <a:off x="3127248" y="2907792"/>
            <a:ext cx="2724912" cy="347472"/>
          </a:xfrm>
          <a:prstGeom prst="roundRect">
            <a:avLst>
              <a:gd name="adj" fmla="val 31579"/>
            </a:avLst>
          </a:prstGeom>
          <a:solidFill>
            <a:srgbClr val="065F6E"/>
          </a:solidFill>
          <a:ln w="12700">
            <a:solidFill>
              <a:srgbClr val="065F6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4" name="Shape 31"/>
          <p:cNvSpPr/>
          <p:nvPr/>
        </p:nvSpPr>
        <p:spPr>
          <a:xfrm>
            <a:off x="3127248" y="3136392"/>
            <a:ext cx="2724912" cy="118872"/>
          </a:xfrm>
          <a:prstGeom prst="rect">
            <a:avLst/>
          </a:prstGeom>
          <a:solidFill>
            <a:srgbClr val="065F6E"/>
          </a:solidFill>
          <a:ln w="12700">
            <a:solidFill>
              <a:srgbClr val="065F6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5" name="Text 32"/>
          <p:cNvSpPr/>
          <p:nvPr/>
        </p:nvSpPr>
        <p:spPr>
          <a:xfrm>
            <a:off x="3127248" y="3291840"/>
            <a:ext cx="2724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61,5 M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3127248" y="3968496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USD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3127248" y="4297680"/>
            <a:ext cx="2724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 bruta acumulada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5998464" y="2907792"/>
            <a:ext cx="2724912" cy="175564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D1DDE8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39" name="Shape 36"/>
          <p:cNvSpPr/>
          <p:nvPr/>
        </p:nvSpPr>
        <p:spPr>
          <a:xfrm>
            <a:off x="5998464" y="2907792"/>
            <a:ext cx="2724912" cy="347472"/>
          </a:xfrm>
          <a:prstGeom prst="roundRect">
            <a:avLst>
              <a:gd name="adj" fmla="val 31579"/>
            </a:avLst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0" name="Shape 37"/>
          <p:cNvSpPr/>
          <p:nvPr/>
        </p:nvSpPr>
        <p:spPr>
          <a:xfrm>
            <a:off x="5998464" y="3136392"/>
            <a:ext cx="2724912" cy="1188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1" name="Text 38"/>
          <p:cNvSpPr/>
          <p:nvPr/>
        </p:nvSpPr>
        <p:spPr>
          <a:xfrm>
            <a:off x="5998464" y="3291840"/>
            <a:ext cx="2724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52% MCL</a:t>
            </a:r>
            <a:endParaRPr lang="en-US" sz="2200" dirty="0"/>
          </a:p>
        </p:txBody>
      </p:sp>
      <p:sp>
        <p:nvSpPr>
          <p:cNvPr id="42" name="Text 39"/>
          <p:cNvSpPr/>
          <p:nvPr/>
        </p:nvSpPr>
        <p:spPr>
          <a:xfrm>
            <a:off x="5998464" y="3968496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cartera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5998464" y="4297680"/>
            <a:ext cx="2724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casos mayor cuantía</a:t>
            </a:r>
            <a:endParaRPr lang="en-US" sz="850" dirty="0"/>
          </a:p>
        </p:txBody>
      </p:sp>
      <p:pic>
        <p:nvPicPr>
          <p:cNvPr id="44" name="Imagen 43" descr="logoJPV2-[Convertido]">
            <a:extLst>
              <a:ext uri="{FF2B5EF4-FFF2-40B4-BE49-F238E27FC236}">
                <a16:creationId xmlns:a16="http://schemas.microsoft.com/office/drawing/2014/main" id="{3B8BFD1E-0134-238A-EE44-63D8EBF195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42" y="76341"/>
            <a:ext cx="1030366" cy="528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508" y="0"/>
            <a:ext cx="8065492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Shape 1"/>
          <p:cNvSpPr/>
          <p:nvPr/>
        </p:nvSpPr>
        <p:spPr>
          <a:xfrm>
            <a:off x="1143000" y="164592"/>
            <a:ext cx="36576" cy="420624"/>
          </a:xfrm>
          <a:prstGeom prst="rect">
            <a:avLst/>
          </a:prstGeom>
          <a:solidFill>
            <a:srgbClr val="14A8A0"/>
          </a:solidFill>
          <a:ln w="12700">
            <a:solidFill>
              <a:srgbClr val="14A8A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1234440" y="82296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DE CARTERA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7498080" y="8229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14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MCL vs. Otros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Shape 5"/>
          <p:cNvSpPr/>
          <p:nvPr/>
        </p:nvSpPr>
        <p:spPr>
          <a:xfrm>
            <a:off x="256032" y="932688"/>
            <a:ext cx="4023360" cy="2331720"/>
          </a:xfrm>
          <a:prstGeom prst="roundRect">
            <a:avLst>
              <a:gd name="adj" fmla="val 5490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9" name="Text 6"/>
          <p:cNvSpPr/>
          <p:nvPr/>
        </p:nvSpPr>
        <p:spPr>
          <a:xfrm>
            <a:off x="256032" y="98755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MCL — Mayor Cuantía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56032" y="13533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A8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 bruta &gt; 5.000 UF  /  &gt; USD 200.000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256032" y="1627632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800" b="1" dirty="0">
                <a:solidFill>
                  <a:srgbClr val="14A8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5800" dirty="0"/>
          </a:p>
        </p:txBody>
      </p:sp>
      <p:sp>
        <p:nvSpPr>
          <p:cNvPr id="12" name="Text 9"/>
          <p:cNvSpPr/>
          <p:nvPr/>
        </p:nvSpPr>
        <p:spPr>
          <a:xfrm>
            <a:off x="256032" y="248716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 ·  52% de la cartera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56032" y="277977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4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321.387 UF  +  USD 61,4 M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663440" y="932688"/>
            <a:ext cx="402336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2700">
            <a:solidFill>
              <a:srgbClr val="0D7377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5" name="Text 12"/>
          <p:cNvSpPr/>
          <p:nvPr/>
        </p:nvSpPr>
        <p:spPr>
          <a:xfrm>
            <a:off x="4663440" y="98755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Otros Casos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663440" y="13533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 bruta ≤ 5.000 UF  /  ≤ USD 200.000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663440" y="1627632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800" b="1" dirty="0">
                <a:solidFill>
                  <a:srgbClr val="0D73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5800" dirty="0"/>
          </a:p>
        </p:txBody>
      </p:sp>
      <p:sp>
        <p:nvSpPr>
          <p:cNvPr id="18" name="Text 15"/>
          <p:cNvSpPr/>
          <p:nvPr/>
        </p:nvSpPr>
        <p:spPr>
          <a:xfrm>
            <a:off x="4663440" y="248716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 ·  48% de la cartera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663440" y="277977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18.968 UF  +  USD 55.000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256032" y="331012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asegurado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56032" y="370332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Essbio S.A.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2926080" y="3721608"/>
            <a:ext cx="5120640" cy="164592"/>
          </a:xfrm>
          <a:prstGeom prst="roundRect">
            <a:avLst>
              <a:gd name="adj" fmla="val 22222"/>
            </a:avLst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3" name="Text 20"/>
          <p:cNvSpPr/>
          <p:nvPr/>
        </p:nvSpPr>
        <p:spPr>
          <a:xfrm>
            <a:off x="8138160" y="370332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256032" y="3991356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Nuevosur S.A.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2926080" y="4009644"/>
            <a:ext cx="3413760" cy="164592"/>
          </a:xfrm>
          <a:prstGeom prst="roundRect">
            <a:avLst>
              <a:gd name="adj" fmla="val 22222"/>
            </a:avLst>
          </a:prstGeom>
          <a:solidFill>
            <a:srgbClr val="14A8A0"/>
          </a:solidFill>
          <a:ln w="12700">
            <a:solidFill>
              <a:srgbClr val="14A8A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6" name="Text 23"/>
          <p:cNvSpPr/>
          <p:nvPr/>
        </p:nvSpPr>
        <p:spPr>
          <a:xfrm>
            <a:off x="6431280" y="39913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256032" y="427939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Engie Energía Chile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2926080" y="4297680"/>
            <a:ext cx="2844800" cy="164592"/>
          </a:xfrm>
          <a:prstGeom prst="roundRect">
            <a:avLst>
              <a:gd name="adj" fmla="val 22222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9" name="Text 26"/>
          <p:cNvSpPr/>
          <p:nvPr/>
        </p:nvSpPr>
        <p:spPr>
          <a:xfrm>
            <a:off x="5862320" y="42793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256032" y="4567428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Autopista Central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2926080" y="4585716"/>
            <a:ext cx="2275840" cy="164592"/>
          </a:xfrm>
          <a:prstGeom prst="roundRect">
            <a:avLst>
              <a:gd name="adj" fmla="val 22222"/>
            </a:avLst>
          </a:prstGeom>
          <a:solidFill>
            <a:srgbClr val="2C5F7A"/>
          </a:solidFill>
          <a:ln w="12700">
            <a:solidFill>
              <a:srgbClr val="2C5F7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2" name="Text 29"/>
          <p:cNvSpPr/>
          <p:nvPr/>
        </p:nvSpPr>
        <p:spPr>
          <a:xfrm>
            <a:off x="5293360" y="456742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256032" y="485546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Otros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2926080" y="4873752"/>
            <a:ext cx="3982720" cy="164592"/>
          </a:xfrm>
          <a:prstGeom prst="roundRect">
            <a:avLst>
              <a:gd name="adj" fmla="val 22222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5" name="Text 32"/>
          <p:cNvSpPr/>
          <p:nvPr/>
        </p:nvSpPr>
        <p:spPr>
          <a:xfrm>
            <a:off x="7000240" y="485546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pic>
        <p:nvPicPr>
          <p:cNvPr id="36" name="Imagen 35" descr="logoJPV2-[Convertido]">
            <a:extLst>
              <a:ext uri="{FF2B5EF4-FFF2-40B4-BE49-F238E27FC236}">
                <a16:creationId xmlns:a16="http://schemas.microsoft.com/office/drawing/2014/main" id="{C41E4EEC-5C34-ED1D-D4EB-BD09F4858C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42" y="76341"/>
            <a:ext cx="1030366" cy="528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508" y="0"/>
            <a:ext cx="8065492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Shape 1"/>
          <p:cNvSpPr/>
          <p:nvPr/>
        </p:nvSpPr>
        <p:spPr>
          <a:xfrm>
            <a:off x="1143000" y="164592"/>
            <a:ext cx="36576" cy="420624"/>
          </a:xfrm>
          <a:prstGeom prst="rect">
            <a:avLst/>
          </a:prstGeom>
          <a:solidFill>
            <a:srgbClr val="14A8A0"/>
          </a:solidFill>
          <a:ln w="12700">
            <a:solidFill>
              <a:srgbClr val="14A8A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1234440" y="82296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 DE CIERRE 2026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7498080" y="8229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14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y seguimiento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graphicFrame>
        <p:nvGraphicFramePr>
          <p:cNvPr id="8" name="Chart 0"/>
          <p:cNvGraphicFramePr/>
          <p:nvPr/>
        </p:nvGraphicFramePr>
        <p:xfrm>
          <a:off x="182880" y="896112"/>
          <a:ext cx="429768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Shape 5"/>
          <p:cNvSpPr/>
          <p:nvPr/>
        </p:nvSpPr>
        <p:spPr>
          <a:xfrm>
            <a:off x="4709160" y="932688"/>
            <a:ext cx="411480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6350">
            <a:solidFill>
              <a:srgbClr val="D1DDE8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0" name="Shape 6"/>
          <p:cNvSpPr/>
          <p:nvPr/>
        </p:nvSpPr>
        <p:spPr>
          <a:xfrm>
            <a:off x="4709160" y="1005840"/>
            <a:ext cx="201168" cy="786384"/>
          </a:xfrm>
          <a:prstGeom prst="roundRect">
            <a:avLst>
              <a:gd name="adj" fmla="val 31818"/>
            </a:avLst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7"/>
          <p:cNvSpPr/>
          <p:nvPr/>
        </p:nvSpPr>
        <p:spPr>
          <a:xfrm>
            <a:off x="4983480" y="9875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Cierta — 100%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4983480" y="1271016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casos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6080760" y="1243584"/>
            <a:ext cx="2560320" cy="237744"/>
          </a:xfrm>
          <a:prstGeom prst="roundRect">
            <a:avLst>
              <a:gd name="adj" fmla="val 23077"/>
            </a:avLst>
          </a:prstGeom>
          <a:solidFill>
            <a:srgbClr val="D1FAE5"/>
          </a:solidFill>
          <a:ln w="635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" name="Text 10"/>
          <p:cNvSpPr/>
          <p:nvPr/>
        </p:nvSpPr>
        <p:spPr>
          <a:xfrm>
            <a:off x="6080760" y="124358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Conf. cierre este año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4709160" y="1956816"/>
            <a:ext cx="411480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6350">
            <a:solidFill>
              <a:srgbClr val="D1DDE8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6" name="Shape 12"/>
          <p:cNvSpPr/>
          <p:nvPr/>
        </p:nvSpPr>
        <p:spPr>
          <a:xfrm>
            <a:off x="4709160" y="2029968"/>
            <a:ext cx="201168" cy="786384"/>
          </a:xfrm>
          <a:prstGeom prst="roundRect">
            <a:avLst>
              <a:gd name="adj" fmla="val 31818"/>
            </a:avLst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" name="Text 13"/>
          <p:cNvSpPr/>
          <p:nvPr/>
        </p:nvSpPr>
        <p:spPr>
          <a:xfrm>
            <a:off x="4983480" y="20116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Alt. probable — 75%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4983480" y="2295144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casos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6080760" y="2267712"/>
            <a:ext cx="2560320" cy="237744"/>
          </a:xfrm>
          <a:prstGeom prst="roundRect">
            <a:avLst>
              <a:gd name="adj" fmla="val 23077"/>
            </a:avLst>
          </a:prstGeom>
          <a:solidFill>
            <a:srgbClr val="CCFBF1"/>
          </a:solidFill>
          <a:ln w="635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0" name="Text 16"/>
          <p:cNvSpPr/>
          <p:nvPr/>
        </p:nvSpPr>
        <p:spPr>
          <a:xfrm>
            <a:off x="6080760" y="22677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significativo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4709160" y="2980944"/>
            <a:ext cx="411480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6350">
            <a:solidFill>
              <a:srgbClr val="D1DDE8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2" name="Shape 18"/>
          <p:cNvSpPr/>
          <p:nvPr/>
        </p:nvSpPr>
        <p:spPr>
          <a:xfrm>
            <a:off x="4709160" y="3054096"/>
            <a:ext cx="201168" cy="786384"/>
          </a:xfrm>
          <a:prstGeom prst="roundRect">
            <a:avLst>
              <a:gd name="adj" fmla="val 31818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3" name="Text 19"/>
          <p:cNvSpPr/>
          <p:nvPr/>
        </p:nvSpPr>
        <p:spPr>
          <a:xfrm>
            <a:off x="4983480" y="30358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Podría ser — 50%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4983480" y="331927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caso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080760" y="3291840"/>
            <a:ext cx="2560320" cy="237744"/>
          </a:xfrm>
          <a:prstGeom prst="roundRect">
            <a:avLst>
              <a:gd name="adj" fmla="val 23077"/>
            </a:avLst>
          </a:prstGeom>
          <a:solidFill>
            <a:srgbClr val="FEF3C7"/>
          </a:solidFill>
          <a:ln w="635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6" name="Text 22"/>
          <p:cNvSpPr/>
          <p:nvPr/>
        </p:nvSpPr>
        <p:spPr>
          <a:xfrm>
            <a:off x="6080760" y="329184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Antecedentes incompletos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4709160" y="4005072"/>
            <a:ext cx="411480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6350">
            <a:solidFill>
              <a:srgbClr val="D1DDE8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8" name="Shape 24"/>
          <p:cNvSpPr/>
          <p:nvPr/>
        </p:nvSpPr>
        <p:spPr>
          <a:xfrm>
            <a:off x="4709160" y="4078224"/>
            <a:ext cx="201168" cy="786384"/>
          </a:xfrm>
          <a:prstGeom prst="roundRect">
            <a:avLst>
              <a:gd name="adj" fmla="val 31818"/>
            </a:avLst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9" name="Text 25"/>
          <p:cNvSpPr/>
          <p:nvPr/>
        </p:nvSpPr>
        <p:spPr>
          <a:xfrm>
            <a:off x="4983480" y="405993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Nula — 0%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4983480" y="434340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caso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080760" y="4315968"/>
            <a:ext cx="2560320" cy="237744"/>
          </a:xfrm>
          <a:prstGeom prst="roundRect">
            <a:avLst>
              <a:gd name="adj" fmla="val 23077"/>
            </a:avLst>
          </a:prstGeom>
          <a:solidFill>
            <a:srgbClr val="FEE2E2"/>
          </a:solidFill>
          <a:ln w="6350">
            <a:solidFill>
              <a:srgbClr val="991B1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2" name="Text 28"/>
          <p:cNvSpPr/>
          <p:nvPr/>
        </p:nvSpPr>
        <p:spPr>
          <a:xfrm>
            <a:off x="6080760" y="431596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perspectiva de cierre</a:t>
            </a:r>
            <a:endParaRPr lang="en-US" sz="850" dirty="0"/>
          </a:p>
        </p:txBody>
      </p:sp>
      <p:pic>
        <p:nvPicPr>
          <p:cNvPr id="33" name="Imagen 32" descr="logoJPV2-[Convertido]">
            <a:extLst>
              <a:ext uri="{FF2B5EF4-FFF2-40B4-BE49-F238E27FC236}">
                <a16:creationId xmlns:a16="http://schemas.microsoft.com/office/drawing/2014/main" id="{0D1127F6-2AA3-72FF-4B55-452554762D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42" y="76341"/>
            <a:ext cx="1030366" cy="528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508" y="0"/>
            <a:ext cx="8065492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Shape 1"/>
          <p:cNvSpPr/>
          <p:nvPr/>
        </p:nvSpPr>
        <p:spPr>
          <a:xfrm>
            <a:off x="1143000" y="164592"/>
            <a:ext cx="36576" cy="420624"/>
          </a:xfrm>
          <a:prstGeom prst="rect">
            <a:avLst/>
          </a:prstGeom>
          <a:solidFill>
            <a:srgbClr val="14A8A0"/>
          </a:solidFill>
          <a:ln w="12700">
            <a:solidFill>
              <a:srgbClr val="14A8A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1234440" y="82296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TIEMPOS DE RESIDENCIA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7498080" y="8229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14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más antiguos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Shape 5"/>
          <p:cNvSpPr/>
          <p:nvPr/>
        </p:nvSpPr>
        <p:spPr>
          <a:xfrm>
            <a:off x="256032" y="896112"/>
            <a:ext cx="2724912" cy="658368"/>
          </a:xfrm>
          <a:prstGeom prst="roundRect">
            <a:avLst>
              <a:gd name="adj" fmla="val 13889"/>
            </a:avLst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9" name="Text 6"/>
          <p:cNvSpPr/>
          <p:nvPr/>
        </p:nvSpPr>
        <p:spPr>
          <a:xfrm>
            <a:off x="256032" y="896112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985 días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256032" y="1261872"/>
            <a:ext cx="2724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más antiguo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127248" y="896112"/>
            <a:ext cx="2724912" cy="658368"/>
          </a:xfrm>
          <a:prstGeom prst="roundRect">
            <a:avLst>
              <a:gd name="adj" fmla="val 13889"/>
            </a:avLst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2" name="Text 9"/>
          <p:cNvSpPr/>
          <p:nvPr/>
        </p:nvSpPr>
        <p:spPr>
          <a:xfrm>
            <a:off x="3127248" y="896112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~288 días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127248" y="1261872"/>
            <a:ext cx="2724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Promedio cartera Marsh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998464" y="896112"/>
            <a:ext cx="2724912" cy="658368"/>
          </a:xfrm>
          <a:prstGeom prst="roundRect">
            <a:avLst>
              <a:gd name="adj" fmla="val 13889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5" name="Text 12"/>
          <p:cNvSpPr/>
          <p:nvPr/>
        </p:nvSpPr>
        <p:spPr>
          <a:xfrm>
            <a:off x="5998464" y="896112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casos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5998464" y="1261872"/>
            <a:ext cx="2724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más de 600 días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8471846"/>
              </p:ext>
            </p:extLst>
          </p:nvPr>
        </p:nvGraphicFramePr>
        <p:xfrm>
          <a:off x="256032" y="1622909"/>
          <a:ext cx="7644384" cy="3323995"/>
        </p:xfrm>
        <a:graphic>
          <a:graphicData uri="http://schemas.openxmlformats.org/drawingml/2006/table">
            <a:tbl>
              <a:tblPr/>
              <a:tblGrid>
                <a:gridCol w="329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443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064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Siniestro / Nickname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Días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/ Obs.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Inundaciones ago-2023 · NUEVOSUR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99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D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ajuste fines de junio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Turbina CTM3 – ENGIE (Starr)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99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D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r>
                        <a:rPr lang="en-US" sz="750" i="1" baseline="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la </a:t>
                      </a:r>
                      <a:r>
                        <a:rPr lang="en-US" sz="750" i="1" baseline="0" dirty="0" err="1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espera</a:t>
                      </a:r>
                      <a:r>
                        <a:rPr lang="en-US" sz="750" i="1" baseline="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de la </a:t>
                      </a:r>
                      <a:r>
                        <a:rPr lang="en-US" sz="750" i="1" baseline="0" dirty="0" err="1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aprobación</a:t>
                      </a:r>
                      <a:r>
                        <a:rPr lang="en-US" sz="750" i="1" baseline="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del BI </a:t>
                      </a:r>
                      <a:r>
                        <a:rPr lang="en-US" sz="750" i="1" baseline="0" dirty="0" err="1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</a:t>
                      </a:r>
                      <a:r>
                        <a:rPr lang="en-US" sz="750" i="1" baseline="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750" i="1" baseline="0" dirty="0" err="1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parte</a:t>
                      </a:r>
                      <a:r>
                        <a:rPr lang="en-US" sz="750" i="1" baseline="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de Engie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173278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Turbina CTM3 – ENGIE (Sura)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99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r>
                        <a:rPr lang="en-US" sz="750" i="1" baseline="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la </a:t>
                      </a:r>
                      <a:r>
                        <a:rPr lang="en-US" sz="750" i="1" baseline="0" dirty="0" err="1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espera</a:t>
                      </a:r>
                      <a:r>
                        <a:rPr lang="en-US" sz="750" i="1" baseline="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de la </a:t>
                      </a:r>
                      <a:r>
                        <a:rPr lang="en-US" sz="750" i="1" baseline="0" dirty="0" err="1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aprobación</a:t>
                      </a:r>
                      <a:r>
                        <a:rPr lang="en-US" sz="750" i="1" baseline="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del BI </a:t>
                      </a:r>
                      <a:r>
                        <a:rPr lang="en-US" sz="750" i="1" baseline="0" dirty="0" err="1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</a:t>
                      </a:r>
                      <a:r>
                        <a:rPr lang="en-US" sz="750" i="1" baseline="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750" i="1" baseline="0" dirty="0" err="1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parte</a:t>
                      </a:r>
                      <a:r>
                        <a:rPr lang="en-US" sz="750" i="1" baseline="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de Engie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181558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Essbio – Inundaciones jun-2024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99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Espera </a:t>
                      </a:r>
                      <a:r>
                        <a:rPr lang="en-US" sz="750" i="1" dirty="0" err="1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aprobac</a:t>
                      </a: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750" i="1" dirty="0" err="1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ajuste</a:t>
                      </a: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750" i="1" dirty="0" err="1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enviado</a:t>
                      </a: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10/10/25 y/o </a:t>
                      </a:r>
                      <a:r>
                        <a:rPr lang="en-US" sz="750" i="1" dirty="0" err="1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nuevas</a:t>
                      </a: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750" i="1" dirty="0" err="1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reclamaciones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182411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Nuevosur – Inundaciones jun-2024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99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respuesta hasta fines junio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182774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Inundación gasoducto E. Limache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99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Inspección pendiente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Nuevosur – Temporal ago-2024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Antecedentes a fines de julio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189752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Essbio – PTAS Cabrero (membrana)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Informe intermedio en proceso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Essbio – Temporal Viento ago-2024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Espera </a:t>
                      </a:r>
                      <a:r>
                        <a:rPr lang="en-US" sz="750" i="1" dirty="0" err="1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aprobac</a:t>
                      </a: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750" i="1" dirty="0" err="1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ajuste</a:t>
                      </a: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750" i="1" dirty="0" err="1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enviado</a:t>
                      </a: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06/02/26 y/o </a:t>
                      </a:r>
                      <a:r>
                        <a:rPr lang="en-US" sz="750" i="1" dirty="0" err="1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nuevas</a:t>
                      </a: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750" i="1" dirty="0" err="1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reclamaciones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200832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Autopista Central – Av. Matta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Antecedentes 1ª semana junio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18" name="Imagen 17" descr="logoJPV2-[Convertido]">
            <a:extLst>
              <a:ext uri="{FF2B5EF4-FFF2-40B4-BE49-F238E27FC236}">
                <a16:creationId xmlns:a16="http://schemas.microsoft.com/office/drawing/2014/main" id="{28053F3B-1BA6-AB0A-1512-2D4EC795BB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42" y="76341"/>
            <a:ext cx="1030366" cy="528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508" y="0"/>
            <a:ext cx="8065492" cy="749808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Shape 1"/>
          <p:cNvSpPr/>
          <p:nvPr/>
        </p:nvSpPr>
        <p:spPr>
          <a:xfrm>
            <a:off x="1143000" y="164592"/>
            <a:ext cx="36576" cy="420624"/>
          </a:xfrm>
          <a:prstGeom prst="rect">
            <a:avLst/>
          </a:prstGeom>
          <a:solidFill>
            <a:srgbClr val="FFAAAA"/>
          </a:solidFill>
          <a:ln w="12700">
            <a:solidFill>
              <a:srgbClr val="FFAAA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1234440" y="82296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CASOS QUE REQUIEREN ATENCIÓN ESPECIAL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092440" y="82296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Prob. &lt; 100%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5"/>
          <p:cNvSpPr/>
          <p:nvPr/>
        </p:nvSpPr>
        <p:spPr>
          <a:xfrm>
            <a:off x="256032" y="859536"/>
            <a:ext cx="8631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casos con probabilidad de cierre inferior al 100% acumulan exposición significativa. Ordenados por magnitud de pérdida bruta.</a:t>
            </a:r>
            <a:endParaRPr lang="en-US" sz="9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5419496"/>
              </p:ext>
            </p:extLst>
          </p:nvPr>
        </p:nvGraphicFramePr>
        <p:xfrm>
          <a:off x="256032" y="1188720"/>
          <a:ext cx="7671816" cy="3642360"/>
        </p:xfrm>
        <a:graphic>
          <a:graphicData uri="http://schemas.openxmlformats.org/drawingml/2006/table">
            <a:tbl>
              <a:tblPr/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3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2735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Siniestro / Nickname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/ Observaciones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Turbina CTM3 – ENGIE (Starr)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D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IFL este mes, a espera de autorización de Engie para junio.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217415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Aerogenerador B-10 San Pedro II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99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la espera de antecedentes Engie. Sin movimiento reciente.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215252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Aerogenerador A-04 San Pedro 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D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Espera antecedentes Engie. </a:t>
                      </a:r>
                      <a:r>
                        <a:rPr lang="en-US" sz="750" i="1" dirty="0" err="1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Reparación</a:t>
                      </a: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750" i="1" dirty="0" err="1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habría</a:t>
                      </a:r>
                      <a:r>
                        <a:rPr lang="en-US" sz="750" i="1" baseline="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750" i="1" baseline="0" dirty="0" err="1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terminado</a:t>
                      </a:r>
                      <a:r>
                        <a:rPr lang="en-US" sz="750" i="1" baseline="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750" i="1" baseline="0" dirty="0" err="1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</a:t>
                      </a:r>
                      <a:r>
                        <a:rPr lang="en-US" sz="750" i="1" baseline="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mayo, </a:t>
                      </a:r>
                      <a:r>
                        <a:rPr lang="en-US" sz="750" i="1" baseline="0" dirty="0" err="1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según</a:t>
                      </a:r>
                      <a:r>
                        <a:rPr lang="en-US" sz="750" i="1" baseline="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750" i="1" baseline="0" dirty="0" err="1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cronograma</a:t>
                      </a:r>
                      <a:r>
                        <a:rPr lang="en-US" sz="750" i="1" baseline="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217298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Aerogenerador A-15 San Pedro 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D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la espera de antecedentes </a:t>
                      </a:r>
                      <a:r>
                        <a:rPr lang="en-US" sz="750" i="1" dirty="0" err="1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Engie</a:t>
                      </a: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 </a:t>
                      </a:r>
                      <a:r>
                        <a:rPr lang="en-US" sz="750" i="1" dirty="0" err="1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Reparación</a:t>
                      </a: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750" i="1" dirty="0" err="1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habría</a:t>
                      </a: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750" i="1" dirty="0" err="1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terminado</a:t>
                      </a: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750" i="1" dirty="0" err="1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</a:t>
                      </a: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mayo,</a:t>
                      </a:r>
                      <a:r>
                        <a:rPr lang="en-US" sz="750" i="1" baseline="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750" i="1" baseline="0" dirty="0" err="1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según</a:t>
                      </a:r>
                      <a:r>
                        <a:rPr lang="en-US" sz="750" i="1" baseline="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750" i="1" baseline="0" dirty="0" err="1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cronograma</a:t>
                      </a:r>
                      <a:r>
                        <a:rPr lang="en-US" sz="750" i="1" baseline="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182774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Inundación gasoducto E. Limache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Inspección al estero Limache pendiente.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214673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Avería bomba lejía – Wally (Engie Gas)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la espera de peritaje de DICTUC. En estudio.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Inundaciones ago-2023 · NUEVOSUR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D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Observaciones llegaron 14-05. Para ajuste fines de junio.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Nuevosur – Temporal ago-2024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Antecedentes se entregarán a fines de julio.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182411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Nuevosur – Inundaciones jun-2024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Ajuste enviado 06-02. Sin respuesta hasta fines de junio.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210959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PTAS Chimbarongo – Geomembrana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D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Ajuste para la próxima semana; antecedentes recibidos.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1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256032" y="4806856"/>
            <a:ext cx="8631936" cy="216408"/>
          </a:xfrm>
          <a:prstGeom prst="roundRect">
            <a:avLst>
              <a:gd name="adj" fmla="val 19048"/>
            </a:avLst>
          </a:prstGeom>
          <a:solidFill>
            <a:srgbClr val="FEE2E2"/>
          </a:solidFill>
          <a:ln w="10160">
            <a:solidFill>
              <a:srgbClr val="991B1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7"/>
          <p:cNvSpPr/>
          <p:nvPr/>
        </p:nvSpPr>
        <p:spPr>
          <a:xfrm>
            <a:off x="384048" y="4818968"/>
            <a:ext cx="837590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Atención prioritaria: Caso 217415 (Aerogenerador B-10 · Prob. 0%) y tres casos Engie Parque Eólico acumulan USD &gt; 32 M sin antecedents.</a:t>
            </a:r>
            <a:endParaRPr lang="en-US" sz="850" dirty="0"/>
          </a:p>
        </p:txBody>
      </p:sp>
      <p:pic>
        <p:nvPicPr>
          <p:cNvPr id="12" name="Imagen 11" descr="logoJPV2-[Convertido]">
            <a:extLst>
              <a:ext uri="{FF2B5EF4-FFF2-40B4-BE49-F238E27FC236}">
                <a16:creationId xmlns:a16="http://schemas.microsoft.com/office/drawing/2014/main" id="{6DF5A056-E532-3CBF-EF6E-36711DA6E3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42" y="76341"/>
            <a:ext cx="1030366" cy="528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F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508" y="0"/>
            <a:ext cx="8065492" cy="74980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Shape 1"/>
          <p:cNvSpPr/>
          <p:nvPr/>
        </p:nvSpPr>
        <p:spPr>
          <a:xfrm>
            <a:off x="1143000" y="164592"/>
            <a:ext cx="36576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1234440" y="82296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 Y FOCOS DE GESTIÓN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0" y="749808"/>
            <a:ext cx="9144000" cy="36576"/>
          </a:xfrm>
          <a:prstGeom prst="rect">
            <a:avLst/>
          </a:prstGeom>
          <a:solidFill>
            <a:srgbClr val="14A8A0"/>
          </a:solidFill>
          <a:ln w="12700">
            <a:solidFill>
              <a:srgbClr val="14A8A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Shape 4"/>
          <p:cNvSpPr/>
          <p:nvPr/>
        </p:nvSpPr>
        <p:spPr>
          <a:xfrm>
            <a:off x="256032" y="914400"/>
            <a:ext cx="4114800" cy="1371600"/>
          </a:xfrm>
          <a:prstGeom prst="roundRect">
            <a:avLst>
              <a:gd name="adj" fmla="val 8000"/>
            </a:avLst>
          </a:prstGeom>
          <a:solidFill>
            <a:srgbClr val="0D1F38"/>
          </a:solidFill>
          <a:ln w="12700">
            <a:solidFill>
              <a:srgbClr val="991B1B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8" name="Shape 5"/>
          <p:cNvSpPr/>
          <p:nvPr/>
        </p:nvSpPr>
        <p:spPr>
          <a:xfrm>
            <a:off x="384048" y="1042416"/>
            <a:ext cx="438912" cy="438912"/>
          </a:xfrm>
          <a:prstGeom prst="ellipse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Text 6"/>
          <p:cNvSpPr/>
          <p:nvPr/>
        </p:nvSpPr>
        <p:spPr>
          <a:xfrm>
            <a:off x="384048" y="10424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914400" y="1005840"/>
            <a:ext cx="33284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Reactivar casos Engie – Parque San Pedro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914400" y="1353312"/>
            <a:ext cx="33284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217415, 215252 y 217298 concentran USD &gt; 32 M. Coordinar con Marsh reunión urgente con Engie para destrabar antecedentes. Meta: respuesta antes del 30 de junio.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4700016" y="914400"/>
            <a:ext cx="4114800" cy="1371600"/>
          </a:xfrm>
          <a:prstGeom prst="roundRect">
            <a:avLst>
              <a:gd name="adj" fmla="val 8000"/>
            </a:avLst>
          </a:prstGeom>
          <a:solidFill>
            <a:srgbClr val="0D1F38"/>
          </a:solidFill>
          <a:ln w="12700">
            <a:solidFill>
              <a:srgbClr val="B45309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3" name="Shape 10"/>
          <p:cNvSpPr/>
          <p:nvPr/>
        </p:nvSpPr>
        <p:spPr>
          <a:xfrm>
            <a:off x="4828032" y="1042416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" name="Text 11"/>
          <p:cNvSpPr/>
          <p:nvPr/>
        </p:nvSpPr>
        <p:spPr>
          <a:xfrm>
            <a:off x="4828032" y="10424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358384" y="1005840"/>
            <a:ext cx="33284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IFL Turbina CTM3 – ENGIE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358384" y="1353312"/>
            <a:ext cx="33284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173278/79 con 923 días y USD 27,7 M c/u. Objetivo de emisión: junio 2026.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256032" y="2423160"/>
            <a:ext cx="4114800" cy="1033272"/>
          </a:xfrm>
          <a:prstGeom prst="roundRect">
            <a:avLst>
              <a:gd name="adj" fmla="val 8000"/>
            </a:avLst>
          </a:prstGeom>
          <a:solidFill>
            <a:srgbClr val="0D1F38"/>
          </a:solidFill>
          <a:ln w="12700">
            <a:solidFill>
              <a:srgbClr val="14A8A0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8" name="Shape 15"/>
          <p:cNvSpPr/>
          <p:nvPr/>
        </p:nvSpPr>
        <p:spPr>
          <a:xfrm>
            <a:off x="384048" y="2551176"/>
            <a:ext cx="438912" cy="438912"/>
          </a:xfrm>
          <a:prstGeom prst="ellipse">
            <a:avLst/>
          </a:prstGeom>
          <a:solidFill>
            <a:srgbClr val="14A8A0"/>
          </a:solidFill>
          <a:ln w="12700">
            <a:solidFill>
              <a:srgbClr val="14A8A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Text 16"/>
          <p:cNvSpPr/>
          <p:nvPr/>
        </p:nvSpPr>
        <p:spPr>
          <a:xfrm>
            <a:off x="384048" y="25511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914400" y="2514600"/>
            <a:ext cx="33284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Essbio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Nuevosur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Seguimiento inundaciones y temporal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14400" y="2862072"/>
            <a:ext cx="3328416" cy="367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</a:t>
            </a: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170489, 181558, 182411, 188864 y 198260. Plan de </a:t>
            </a:r>
            <a:r>
              <a:rPr lang="en-US" sz="8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</a:t>
            </a: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r>
              <a:rPr lang="en-US" sz="8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asegurado</a:t>
            </a: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el </a:t>
            </a:r>
            <a:r>
              <a:rPr lang="en-US" sz="8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los siniestros.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4700016" y="2423160"/>
            <a:ext cx="4114800" cy="1051560"/>
          </a:xfrm>
          <a:prstGeom prst="roundRect">
            <a:avLst>
              <a:gd name="adj" fmla="val 10909"/>
            </a:avLst>
          </a:prstGeom>
          <a:solidFill>
            <a:srgbClr val="0D1F38"/>
          </a:solidFill>
          <a:ln w="12700">
            <a:solidFill>
              <a:srgbClr val="06B6D4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8" name="Shape 25"/>
          <p:cNvSpPr/>
          <p:nvPr/>
        </p:nvSpPr>
        <p:spPr>
          <a:xfrm>
            <a:off x="4827850" y="2551176"/>
            <a:ext cx="438912" cy="438912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0" name="Text 27"/>
          <p:cNvSpPr/>
          <p:nvPr/>
        </p:nvSpPr>
        <p:spPr>
          <a:xfrm>
            <a:off x="5358384" y="2568646"/>
            <a:ext cx="33284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Autopista Central – Antecedentes MOP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5358202" y="2843784"/>
            <a:ext cx="3328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200832 y 201223: licitación pendiente de aprobación. Monitorear esta semana y confirmar con Marsh.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0" y="5010912"/>
            <a:ext cx="9144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JPV Asociados · Ajustadores Especializados  ·  Análisis al 09 de junio de 2026  ·  Cartera MARSH S.A.</a:t>
            </a:r>
            <a:endParaRPr lang="en-US" sz="800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B9E522F0-7028-5760-6529-2A16F7DAC031}"/>
              </a:ext>
            </a:extLst>
          </p:cNvPr>
          <p:cNvSpPr/>
          <p:nvPr/>
        </p:nvSpPr>
        <p:spPr>
          <a:xfrm>
            <a:off x="0" y="0"/>
            <a:ext cx="1078508" cy="74980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pic>
        <p:nvPicPr>
          <p:cNvPr id="33" name="Imagen 32" descr="logoJPV2-[Convertido]">
            <a:extLst>
              <a:ext uri="{FF2B5EF4-FFF2-40B4-BE49-F238E27FC236}">
                <a16:creationId xmlns:a16="http://schemas.microsoft.com/office/drawing/2014/main" id="{980CD234-71E7-9287-E562-AA41CA8472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42" y="76341"/>
            <a:ext cx="1030366" cy="52822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Shape 24">
            <a:extLst>
              <a:ext uri="{FF2B5EF4-FFF2-40B4-BE49-F238E27FC236}">
                <a16:creationId xmlns:a16="http://schemas.microsoft.com/office/drawing/2014/main" id="{C8150EE9-B294-02C6-4D5B-07859B28C06E}"/>
              </a:ext>
            </a:extLst>
          </p:cNvPr>
          <p:cNvSpPr/>
          <p:nvPr/>
        </p:nvSpPr>
        <p:spPr>
          <a:xfrm>
            <a:off x="2438400" y="3679972"/>
            <a:ext cx="4114800" cy="1005840"/>
          </a:xfrm>
          <a:prstGeom prst="roundRect">
            <a:avLst>
              <a:gd name="adj" fmla="val 10909"/>
            </a:avLst>
          </a:prstGeom>
          <a:solidFill>
            <a:srgbClr val="0D1F38"/>
          </a:solidFill>
          <a:ln w="12700">
            <a:solidFill>
              <a:srgbClr val="06B6D4"/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35" name="Shape 25">
            <a:extLst>
              <a:ext uri="{FF2B5EF4-FFF2-40B4-BE49-F238E27FC236}">
                <a16:creationId xmlns:a16="http://schemas.microsoft.com/office/drawing/2014/main" id="{7071BB26-A1CE-27A0-CAA6-70BB2E062933}"/>
              </a:ext>
            </a:extLst>
          </p:cNvPr>
          <p:cNvSpPr/>
          <p:nvPr/>
        </p:nvSpPr>
        <p:spPr>
          <a:xfrm>
            <a:off x="2542032" y="3766840"/>
            <a:ext cx="438912" cy="438912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6" name="Text 28">
            <a:extLst>
              <a:ext uri="{FF2B5EF4-FFF2-40B4-BE49-F238E27FC236}">
                <a16:creationId xmlns:a16="http://schemas.microsoft.com/office/drawing/2014/main" id="{67AEC059-6D89-254C-9FCC-412E3A7DBB1A}"/>
              </a:ext>
            </a:extLst>
          </p:cNvPr>
          <p:cNvSpPr/>
          <p:nvPr/>
        </p:nvSpPr>
        <p:spPr>
          <a:xfrm>
            <a:off x="3072384" y="4069470"/>
            <a:ext cx="3328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Asegurado comprometió el envío de un primer lote de antecedentes que ya ha recopilado de lo solicitado (Reparaciones de emergencia efectuadas) Aun no se licitan las reparaciones definitivas</a:t>
            </a:r>
            <a:endParaRPr lang="en-US" sz="800" dirty="0"/>
          </a:p>
        </p:txBody>
      </p:sp>
      <p:sp>
        <p:nvSpPr>
          <p:cNvPr id="37" name="Text 26">
            <a:extLst>
              <a:ext uri="{FF2B5EF4-FFF2-40B4-BE49-F238E27FC236}">
                <a16:creationId xmlns:a16="http://schemas.microsoft.com/office/drawing/2014/main" id="{4CB8351E-BBC4-04FE-E941-DFEC8C9F6976}"/>
              </a:ext>
            </a:extLst>
          </p:cNvPr>
          <p:cNvSpPr/>
          <p:nvPr/>
        </p:nvSpPr>
        <p:spPr>
          <a:xfrm>
            <a:off x="2523562" y="375687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8" name="Text 27">
            <a:extLst>
              <a:ext uri="{FF2B5EF4-FFF2-40B4-BE49-F238E27FC236}">
                <a16:creationId xmlns:a16="http://schemas.microsoft.com/office/drawing/2014/main" id="{1001B292-5914-2C21-F248-CACF3D020929}"/>
              </a:ext>
            </a:extLst>
          </p:cNvPr>
          <p:cNvSpPr/>
          <p:nvPr/>
        </p:nvSpPr>
        <p:spPr>
          <a:xfrm>
            <a:off x="3066106" y="3749430"/>
            <a:ext cx="33284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Autopista Central – </a:t>
            </a:r>
            <a:r>
              <a:rPr lang="en-US" sz="1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Deflagración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Incendio camion LPG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4828032" y="25511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Tema de 2022">
  <a:themeElements>
    <a:clrScheme name="Office 2013 - Tema de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Tema de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Tema de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168</TotalTime>
  <Words>930</Words>
  <Application>Microsoft Office PowerPoint</Application>
  <PresentationFormat>Presentación en pantalla (16:9)</PresentationFormat>
  <Paragraphs>248</Paragraphs>
  <Slides>7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Cambria</vt:lpstr>
      <vt:lpstr>Office 2013 - Tema de 2022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 Cartera MARSH – JPV Asociados</dc:title>
  <dc:subject>PptxGenJS Presentation</dc:subject>
  <dc:creator>PptxGenJS</dc:creator>
  <cp:lastModifiedBy>Dagoberto  Perez</cp:lastModifiedBy>
  <cp:revision>6</cp:revision>
  <dcterms:created xsi:type="dcterms:W3CDTF">2026-06-09T16:00:54Z</dcterms:created>
  <dcterms:modified xsi:type="dcterms:W3CDTF">2026-06-09T21:27:11Z</dcterms:modified>
</cp:coreProperties>
</file>