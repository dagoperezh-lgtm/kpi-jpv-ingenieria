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63" r:id="rId2"/>
    <p:sldId id="257" r:id="rId3"/>
    <p:sldId id="258" r:id="rId4"/>
    <p:sldId id="259" r:id="rId5"/>
    <p:sldId id="260" r:id="rId6"/>
    <p:sldId id="261" r:id="rId7"/>
    <p:sldId id="264" r:id="rId14"/>
    <p:sldId id="262" r:id="rId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Prob. Cierre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F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6EC-4EAA-988D-4A6807145DEA}"/>
              </c:ext>
            </c:extLst>
          </c:dPt>
          <c:dPt>
            <c:idx val="1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EC-4EAA-988D-4A6807145DEA}"/>
              </c:ext>
            </c:extLst>
          </c:dPt>
          <c:dPt>
            <c:idx val="2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EC-4EAA-988D-4A6807145DEA}"/>
              </c:ext>
            </c:extLst>
          </c:dPt>
          <c:dPt>
            <c:idx val="3"/>
            <c:bubble3D val="0"/>
            <c:spPr>
              <a:solidFill>
                <a:srgbClr val="991B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6EC-4EAA-988D-4A6807145DE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6EC-4EAA-988D-4A6807145DE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6EC-4EAA-988D-4A6807145DE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6EC-4EAA-988D-4A6807145DE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6EC-4EAA-988D-4A6807145DE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100% – Cierta (21)</c:v>
                </c:pt>
                <c:pt idx="1">
                  <c:v>75% – Alt. probable (8)</c:v>
                </c:pt>
                <c:pt idx="2">
                  <c:v>50% – Podría ser (1)</c:v>
                </c:pt>
                <c:pt idx="3">
                  <c:v>0% – Nula (1)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8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6EC-4EAA-988D-4A6807145D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7F9FB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470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E61B4-B16D-5215-7D0F-A4A7173E7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BBA79-987F-809F-F8A4-9FCE6E155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E96A4-96C5-D912-FABC-37B3BBCB1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1DC50-AD1B-21AA-75F5-56B70EA434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29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25392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2955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3327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5961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20393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3298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6735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1015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7707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3689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5227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00018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4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09F2D-E7BC-4CD1-D9F7-A59571E5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CD0A3C2E-19A2-AF4E-6F77-BE2101C2F6CB}"/>
              </a:ext>
            </a:extLst>
          </p:cNvPr>
          <p:cNvSpPr/>
          <p:nvPr/>
        </p:nvSpPr>
        <p:spPr>
          <a:xfrm>
            <a:off x="2926080" y="457200"/>
            <a:ext cx="0" cy="429768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7F18605-CC95-37C8-2F82-775CDDD96A55}"/>
              </a:ext>
            </a:extLst>
          </p:cNvPr>
          <p:cNvSpPr/>
          <p:nvPr/>
        </p:nvSpPr>
        <p:spPr>
          <a:xfrm>
            <a:off x="3200400" y="7772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 Cartera</a:t>
            </a:r>
            <a:endParaRPr lang="en-US" sz="3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C89014D-F8D0-3102-40FF-9CF47074EDBF}"/>
              </a:ext>
            </a:extLst>
          </p:cNvPr>
          <p:cNvSpPr/>
          <p:nvPr/>
        </p:nvSpPr>
        <p:spPr>
          <a:xfrm>
            <a:off x="3200400" y="157276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MARSH S.A. Corredores de Seguros</a:t>
            </a:r>
            <a:endParaRPr lang="en-US" sz="2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E9DAAAA-0992-7437-A4FF-53511F45DB31}"/>
              </a:ext>
            </a:extLst>
          </p:cNvPr>
          <p:cNvSpPr/>
          <p:nvPr/>
        </p:nvSpPr>
        <p:spPr>
          <a:xfrm>
            <a:off x="3200400" y="2231136"/>
            <a:ext cx="530352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EA08C60-D991-6211-37DE-099BDFE5903B}"/>
              </a:ext>
            </a:extLst>
          </p:cNvPr>
          <p:cNvSpPr/>
          <p:nvPr/>
        </p:nvSpPr>
        <p:spPr>
          <a:xfrm>
            <a:off x="320040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Divisiones</a:t>
            </a:r>
            <a:r>
              <a:rPr lang="en-US" sz="1100" i="1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Ingeniería &amp; Energía y Equipo Móvil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CCB3D7C-CE03-88EF-0A68-5EA401AF1155}"/>
              </a:ext>
            </a:extLst>
          </p:cNvPr>
          <p:cNvSpPr/>
          <p:nvPr/>
        </p:nvSpPr>
        <p:spPr>
          <a:xfrm>
            <a:off x="3200400" y="2788920"/>
            <a:ext cx="2011680" cy="420624"/>
          </a:xfrm>
          <a:prstGeom prst="roundRect">
            <a:avLst>
              <a:gd name="adj" fmla="val 17391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33071B4-148B-E920-2116-3AA1BC57074B}"/>
              </a:ext>
            </a:extLst>
          </p:cNvPr>
          <p:cNvSpPr/>
          <p:nvPr/>
        </p:nvSpPr>
        <p:spPr>
          <a:xfrm>
            <a:off x="3200400" y="27889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 junio de 2026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245F4A4-72E3-6ACF-7522-69EAF2AF986F}"/>
              </a:ext>
            </a:extLst>
          </p:cNvPr>
          <p:cNvSpPr/>
          <p:nvPr/>
        </p:nvSpPr>
        <p:spPr>
          <a:xfrm>
            <a:off x="320040" y="3931920"/>
            <a:ext cx="2606040" cy="987552"/>
          </a:xfrm>
          <a:prstGeom prst="roundRect">
            <a:avLst>
              <a:gd name="adj" fmla="val 9259"/>
            </a:avLst>
          </a:prstGeom>
          <a:solidFill>
            <a:srgbClr val="122036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C498A96-DD27-575C-C129-3C637FD490F2}"/>
              </a:ext>
            </a:extLst>
          </p:cNvPr>
          <p:cNvSpPr/>
          <p:nvPr/>
        </p:nvSpPr>
        <p:spPr>
          <a:xfrm>
            <a:off x="320040" y="39593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7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F77A791-469E-CBC1-E14A-2AAD0311542D}"/>
              </a:ext>
            </a:extLst>
          </p:cNvPr>
          <p:cNvSpPr/>
          <p:nvPr/>
        </p:nvSpPr>
        <p:spPr>
          <a:xfrm>
            <a:off x="320040" y="44622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activos</a:t>
            </a:r>
            <a:endParaRPr lang="en-US" sz="9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CAE3260-473F-9FBA-DF95-4EA67051AFA2}"/>
              </a:ext>
            </a:extLst>
          </p:cNvPr>
          <p:cNvSpPr/>
          <p:nvPr/>
        </p:nvSpPr>
        <p:spPr>
          <a:xfrm>
            <a:off x="3154680" y="3931920"/>
            <a:ext cx="2606040" cy="987552"/>
          </a:xfrm>
          <a:prstGeom prst="roundRect">
            <a:avLst>
              <a:gd name="adj" fmla="val 9259"/>
            </a:avLst>
          </a:prstGeom>
          <a:solidFill>
            <a:srgbClr val="122036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C101CF6-B68F-7FE0-77FC-2CF461533AD9}"/>
              </a:ext>
            </a:extLst>
          </p:cNvPr>
          <p:cNvSpPr/>
          <p:nvPr/>
        </p:nvSpPr>
        <p:spPr>
          <a:xfrm>
            <a:off x="3154680" y="39593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340.355 UF</a:t>
            </a:r>
            <a:endParaRPr lang="en-US" sz="17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7C10BE0-E498-867F-6077-2C89DFABC178}"/>
              </a:ext>
            </a:extLst>
          </p:cNvPr>
          <p:cNvSpPr/>
          <p:nvPr/>
        </p:nvSpPr>
        <p:spPr>
          <a:xfrm>
            <a:off x="3154680" y="44622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bruta total UF</a:t>
            </a:r>
            <a:endParaRPr lang="en-US" sz="9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47D39A7-360E-BD63-E1C8-C8D6E33CC0A9}"/>
              </a:ext>
            </a:extLst>
          </p:cNvPr>
          <p:cNvSpPr/>
          <p:nvPr/>
        </p:nvSpPr>
        <p:spPr>
          <a:xfrm>
            <a:off x="5989320" y="3931920"/>
            <a:ext cx="2606040" cy="987552"/>
          </a:xfrm>
          <a:prstGeom prst="roundRect">
            <a:avLst>
              <a:gd name="adj" fmla="val 9259"/>
            </a:avLst>
          </a:prstGeom>
          <a:solidFill>
            <a:srgbClr val="122036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828B451-5828-F6DC-87BB-92CF06FC49F3}"/>
              </a:ext>
            </a:extLst>
          </p:cNvPr>
          <p:cNvSpPr/>
          <p:nvPr/>
        </p:nvSpPr>
        <p:spPr>
          <a:xfrm>
            <a:off x="5989320" y="39593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61,5 M</a:t>
            </a:r>
            <a:endParaRPr lang="en-US" sz="17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ACDAE00-A3C5-E3C7-BA7F-326D4D0B16AB}"/>
              </a:ext>
            </a:extLst>
          </p:cNvPr>
          <p:cNvSpPr/>
          <p:nvPr/>
        </p:nvSpPr>
        <p:spPr>
          <a:xfrm>
            <a:off x="5989320" y="44622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bruta total USD</a:t>
            </a:r>
            <a:endParaRPr lang="en-US" sz="9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2" name="Imagen 21" descr="logoJPV2-[Convertido]">
            <a:extLst>
              <a:ext uri="{FF2B5EF4-FFF2-40B4-BE49-F238E27FC236}">
                <a16:creationId xmlns:a16="http://schemas.microsoft.com/office/drawing/2014/main" id="{958F3463-111C-715E-04D1-3BCC211EF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39" y="430910"/>
            <a:ext cx="2053451" cy="10527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E8204E1-E98C-450B-41FB-1406C09E905B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A8A0"/>
          </a:solidFill>
          <a:ln w="12700">
            <a:solidFill>
              <a:srgbClr val="14A8A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3221987-ED7F-3276-4578-313385C8DBD7}"/>
              </a:ext>
            </a:extLst>
          </p:cNvPr>
          <p:cNvSpPr/>
          <p:nvPr/>
        </p:nvSpPr>
        <p:spPr>
          <a:xfrm>
            <a:off x="0" y="5047488"/>
            <a:ext cx="9144000" cy="1143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5F93939-52ED-A84B-D9FF-44EFBE93ECF7}"/>
              </a:ext>
            </a:extLst>
          </p:cNvPr>
          <p:cNvSpPr/>
          <p:nvPr/>
        </p:nvSpPr>
        <p:spPr>
          <a:xfrm>
            <a:off x="0" y="5047488"/>
            <a:ext cx="9144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JPV Asociados · Ajustadores Especializados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481430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508" y="0"/>
            <a:ext cx="8065492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143000" y="164592"/>
            <a:ext cx="36576" cy="420624"/>
          </a:xfrm>
          <a:prstGeom prst="rect">
            <a:avLst/>
          </a:prstGeom>
          <a:solidFill>
            <a:srgbClr val="14A8A0"/>
          </a:solidFill>
          <a:ln w="12700">
            <a:solidFill>
              <a:srgbClr val="14A8A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1234440" y="82296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GENERAL DE CARTERA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498080" y="822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 S.A.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256032" y="987552"/>
            <a:ext cx="272491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256032" y="987552"/>
            <a:ext cx="2724912" cy="347472"/>
          </a:xfrm>
          <a:prstGeom prst="roundRect">
            <a:avLst>
              <a:gd name="adj" fmla="val 3157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256032" y="1216152"/>
            <a:ext cx="2724912" cy="1188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256032" y="137160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56032" y="204825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activa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" y="23774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en gestión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27248" y="987552"/>
            <a:ext cx="272491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3127248" y="987552"/>
            <a:ext cx="2724912" cy="347472"/>
          </a:xfrm>
          <a:prstGeom prst="roundRect">
            <a:avLst>
              <a:gd name="adj" fmla="val 31579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3"/>
          <p:cNvSpPr/>
          <p:nvPr/>
        </p:nvSpPr>
        <p:spPr>
          <a:xfrm>
            <a:off x="3127248" y="1216152"/>
            <a:ext cx="2724912" cy="1188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3127248" y="137160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127248" y="204825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127248" y="23774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y Energía  /  Equipo Móvil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998464" y="987552"/>
            <a:ext cx="272491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8"/>
          <p:cNvSpPr/>
          <p:nvPr/>
        </p:nvSpPr>
        <p:spPr>
          <a:xfrm>
            <a:off x="5998464" y="987552"/>
            <a:ext cx="2724912" cy="347472"/>
          </a:xfrm>
          <a:prstGeom prst="roundRect">
            <a:avLst>
              <a:gd name="adj" fmla="val 31579"/>
            </a:avLst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19"/>
          <p:cNvSpPr/>
          <p:nvPr/>
        </p:nvSpPr>
        <p:spPr>
          <a:xfrm>
            <a:off x="5998464" y="1216152"/>
            <a:ext cx="2724912" cy="118872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5998464" y="137160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UF · 8 USD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998464" y="204825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divisa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98464" y="23774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moneda de reserva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" y="2907792"/>
            <a:ext cx="272491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Shape 24"/>
          <p:cNvSpPr/>
          <p:nvPr/>
        </p:nvSpPr>
        <p:spPr>
          <a:xfrm>
            <a:off x="256032" y="2907792"/>
            <a:ext cx="2724912" cy="347472"/>
          </a:xfrm>
          <a:prstGeom prst="roundRect">
            <a:avLst>
              <a:gd name="adj" fmla="val 31579"/>
            </a:avLst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5"/>
          <p:cNvSpPr/>
          <p:nvPr/>
        </p:nvSpPr>
        <p:spPr>
          <a:xfrm>
            <a:off x="256032" y="3136392"/>
            <a:ext cx="2724912" cy="118872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/>
          <p:nvPr/>
        </p:nvSpPr>
        <p:spPr>
          <a:xfrm>
            <a:off x="256032" y="329184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340.355 UF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256032" y="396849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UF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56032" y="42976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bruta acumulada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127248" y="2907792"/>
            <a:ext cx="272491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Shape 30"/>
          <p:cNvSpPr/>
          <p:nvPr/>
        </p:nvSpPr>
        <p:spPr>
          <a:xfrm>
            <a:off x="3127248" y="2907792"/>
            <a:ext cx="2724912" cy="347472"/>
          </a:xfrm>
          <a:prstGeom prst="roundRect">
            <a:avLst>
              <a:gd name="adj" fmla="val 31579"/>
            </a:avLst>
          </a:prstGeom>
          <a:solidFill>
            <a:srgbClr val="065F6E"/>
          </a:solidFill>
          <a:ln w="12700">
            <a:solidFill>
              <a:srgbClr val="065F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1"/>
          <p:cNvSpPr/>
          <p:nvPr/>
        </p:nvSpPr>
        <p:spPr>
          <a:xfrm>
            <a:off x="3127248" y="3136392"/>
            <a:ext cx="2724912" cy="118872"/>
          </a:xfrm>
          <a:prstGeom prst="rect">
            <a:avLst/>
          </a:prstGeom>
          <a:solidFill>
            <a:srgbClr val="065F6E"/>
          </a:solidFill>
          <a:ln w="12700">
            <a:solidFill>
              <a:srgbClr val="065F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3127248" y="329184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61,5 M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3127248" y="396849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USD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127248" y="42976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bruta acumulada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998464" y="2907792"/>
            <a:ext cx="272491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9" name="Shape 36"/>
          <p:cNvSpPr/>
          <p:nvPr/>
        </p:nvSpPr>
        <p:spPr>
          <a:xfrm>
            <a:off x="5998464" y="2907792"/>
            <a:ext cx="2724912" cy="347472"/>
          </a:xfrm>
          <a:prstGeom prst="roundRect">
            <a:avLst>
              <a:gd name="adj" fmla="val 31579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Shape 37"/>
          <p:cNvSpPr/>
          <p:nvPr/>
        </p:nvSpPr>
        <p:spPr>
          <a:xfrm>
            <a:off x="5998464" y="3136392"/>
            <a:ext cx="2724912" cy="1188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8"/>
          <p:cNvSpPr/>
          <p:nvPr/>
        </p:nvSpPr>
        <p:spPr>
          <a:xfrm>
            <a:off x="5998464" y="3291840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 MCL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5998464" y="396849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cartera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998464" y="42976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casos mayor cuantía</a:t>
            </a:r>
            <a:endParaRPr lang="en-US" sz="850" dirty="0"/>
          </a:p>
        </p:txBody>
      </p:sp>
      <p:pic>
        <p:nvPicPr>
          <p:cNvPr id="44" name="Imagen 43" descr="logoJPV2-[Convertido]">
            <a:extLst>
              <a:ext uri="{FF2B5EF4-FFF2-40B4-BE49-F238E27FC236}">
                <a16:creationId xmlns:a16="http://schemas.microsoft.com/office/drawing/2014/main" id="{3B8BFD1E-0134-238A-EE44-63D8EBF19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2" y="76341"/>
            <a:ext cx="1030366" cy="52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508" y="0"/>
            <a:ext cx="8065492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143000" y="164592"/>
            <a:ext cx="36576" cy="420624"/>
          </a:xfrm>
          <a:prstGeom prst="rect">
            <a:avLst/>
          </a:prstGeom>
          <a:solidFill>
            <a:srgbClr val="14A8A0"/>
          </a:solidFill>
          <a:ln w="12700">
            <a:solidFill>
              <a:srgbClr val="14A8A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1234440" y="82296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CARTERA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498080" y="822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 vs. Otros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256032" y="932688"/>
            <a:ext cx="4023360" cy="2331720"/>
          </a:xfrm>
          <a:prstGeom prst="roundRect">
            <a:avLst>
              <a:gd name="adj" fmla="val 549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256032" y="987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 — Mayor Cuantía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6032" y="1353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bruta &gt; 5.000 UF  /  &gt; USD 200.000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6032" y="162763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4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256032" y="24871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 ·  52% de la cartera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" y="27797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321.387 UF  +  USD 61,4 M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932688"/>
            <a:ext cx="402336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4663440" y="987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Casos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63440" y="1353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bruta ≤ 5.000 UF  /  ≤ USD 200.000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63440" y="162763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800" dirty="0"/>
          </a:p>
        </p:txBody>
      </p:sp>
      <p:sp>
        <p:nvSpPr>
          <p:cNvPr id="18" name="Text 15"/>
          <p:cNvSpPr/>
          <p:nvPr/>
        </p:nvSpPr>
        <p:spPr>
          <a:xfrm>
            <a:off x="4663440" y="24871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 ·  48% de la cartera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663440" y="27797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18.968 UF  +  USD 55.000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56032" y="33101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por asegurado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56032" y="37033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Essbio S.A.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926080" y="3721608"/>
            <a:ext cx="5120640" cy="164592"/>
          </a:xfrm>
          <a:prstGeom prst="roundRect">
            <a:avLst>
              <a:gd name="adj" fmla="val 2222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8138160" y="3703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56032" y="39913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Nuevosur S.A.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926080" y="4009644"/>
            <a:ext cx="3413760" cy="164592"/>
          </a:xfrm>
          <a:prstGeom prst="roundRect">
            <a:avLst>
              <a:gd name="adj" fmla="val 22222"/>
            </a:avLst>
          </a:prstGeom>
          <a:solidFill>
            <a:srgbClr val="14A8A0"/>
          </a:solidFill>
          <a:ln w="12700">
            <a:solidFill>
              <a:srgbClr val="14A8A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6431280" y="39913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256032" y="42793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Engie Energía Chile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926080" y="4297680"/>
            <a:ext cx="2844800" cy="164592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/>
          <p:nvPr/>
        </p:nvSpPr>
        <p:spPr>
          <a:xfrm>
            <a:off x="5862320" y="4279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56032" y="45674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Autopista Central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926080" y="4585716"/>
            <a:ext cx="2275840" cy="164592"/>
          </a:xfrm>
          <a:prstGeom prst="roundRect">
            <a:avLst>
              <a:gd name="adj" fmla="val 22222"/>
            </a:avLst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5293360" y="45674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256032" y="48554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926080" y="4873752"/>
            <a:ext cx="3982720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7000240" y="48554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pic>
        <p:nvPicPr>
          <p:cNvPr id="36" name="Imagen 35" descr="logoJPV2-[Convertido]">
            <a:extLst>
              <a:ext uri="{FF2B5EF4-FFF2-40B4-BE49-F238E27FC236}">
                <a16:creationId xmlns:a16="http://schemas.microsoft.com/office/drawing/2014/main" id="{C41E4EEC-5C34-ED1D-D4EB-BD09F4858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2" y="76341"/>
            <a:ext cx="1030366" cy="52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508" y="0"/>
            <a:ext cx="8065492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143000" y="164592"/>
            <a:ext cx="36576" cy="420624"/>
          </a:xfrm>
          <a:prstGeom prst="rect">
            <a:avLst/>
          </a:prstGeom>
          <a:solidFill>
            <a:srgbClr val="14A8A0"/>
          </a:solidFill>
          <a:ln w="12700">
            <a:solidFill>
              <a:srgbClr val="14A8A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1234440" y="82296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CIERRE 2026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498080" y="822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y seguimiento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aphicFrame>
        <p:nvGraphicFramePr>
          <p:cNvPr id="8" name="Chart 0"/>
          <p:cNvGraphicFramePr/>
          <p:nvPr/>
        </p:nvGraphicFramePr>
        <p:xfrm>
          <a:off x="182880" y="896112"/>
          <a:ext cx="42976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4709160" y="932688"/>
            <a:ext cx="41148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6"/>
          <p:cNvSpPr/>
          <p:nvPr/>
        </p:nvSpPr>
        <p:spPr>
          <a:xfrm>
            <a:off x="4709160" y="1005840"/>
            <a:ext cx="201168" cy="786384"/>
          </a:xfrm>
          <a:prstGeom prst="roundRect">
            <a:avLst>
              <a:gd name="adj" fmla="val 31818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7"/>
          <p:cNvSpPr/>
          <p:nvPr/>
        </p:nvSpPr>
        <p:spPr>
          <a:xfrm>
            <a:off x="4983480" y="987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Cierta — 100%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983480" y="12710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casos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080760" y="1243584"/>
            <a:ext cx="2560320" cy="237744"/>
          </a:xfrm>
          <a:prstGeom prst="roundRect">
            <a:avLst>
              <a:gd name="adj" fmla="val 23077"/>
            </a:avLst>
          </a:prstGeom>
          <a:solidFill>
            <a:srgbClr val="D1FAE5"/>
          </a:solidFill>
          <a:ln w="635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0"/>
          <p:cNvSpPr/>
          <p:nvPr/>
        </p:nvSpPr>
        <p:spPr>
          <a:xfrm>
            <a:off x="6080760" y="12435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 cierre este año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709160" y="1956816"/>
            <a:ext cx="41148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2"/>
          <p:cNvSpPr/>
          <p:nvPr/>
        </p:nvSpPr>
        <p:spPr>
          <a:xfrm>
            <a:off x="4709160" y="2029968"/>
            <a:ext cx="201168" cy="786384"/>
          </a:xfrm>
          <a:prstGeom prst="roundRect">
            <a:avLst>
              <a:gd name="adj" fmla="val 3181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3"/>
          <p:cNvSpPr/>
          <p:nvPr/>
        </p:nvSpPr>
        <p:spPr>
          <a:xfrm>
            <a:off x="4983480" y="2011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Alt. probable — 75%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983480" y="22951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casos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080760" y="2267712"/>
            <a:ext cx="2560320" cy="237744"/>
          </a:xfrm>
          <a:prstGeom prst="roundRect">
            <a:avLst>
              <a:gd name="adj" fmla="val 23077"/>
            </a:avLst>
          </a:prstGeom>
          <a:solidFill>
            <a:srgbClr val="CCFBF1"/>
          </a:solidFill>
          <a:ln w="63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6"/>
          <p:cNvSpPr/>
          <p:nvPr/>
        </p:nvSpPr>
        <p:spPr>
          <a:xfrm>
            <a:off x="6080760" y="22677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significativo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709160" y="2980944"/>
            <a:ext cx="41148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18"/>
          <p:cNvSpPr/>
          <p:nvPr/>
        </p:nvSpPr>
        <p:spPr>
          <a:xfrm>
            <a:off x="4709160" y="3054096"/>
            <a:ext cx="201168" cy="786384"/>
          </a:xfrm>
          <a:prstGeom prst="roundRect">
            <a:avLst>
              <a:gd name="adj" fmla="val 3181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19"/>
          <p:cNvSpPr/>
          <p:nvPr/>
        </p:nvSpPr>
        <p:spPr>
          <a:xfrm>
            <a:off x="4983480" y="30358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Podría ser — 50%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983480" y="33192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caso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080760" y="3291840"/>
            <a:ext cx="2560320" cy="237744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2"/>
          <p:cNvSpPr/>
          <p:nvPr/>
        </p:nvSpPr>
        <p:spPr>
          <a:xfrm>
            <a:off x="6080760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 incompletos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709160" y="4005072"/>
            <a:ext cx="41148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Shape 24"/>
          <p:cNvSpPr/>
          <p:nvPr/>
        </p:nvSpPr>
        <p:spPr>
          <a:xfrm>
            <a:off x="4709160" y="4078224"/>
            <a:ext cx="201168" cy="786384"/>
          </a:xfrm>
          <a:prstGeom prst="roundRect">
            <a:avLst>
              <a:gd name="adj" fmla="val 31818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5"/>
          <p:cNvSpPr/>
          <p:nvPr/>
        </p:nvSpPr>
        <p:spPr>
          <a:xfrm>
            <a:off x="4983480" y="40599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Nula — 0%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983480" y="4343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caso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080760" y="4315968"/>
            <a:ext cx="2560320" cy="237744"/>
          </a:xfrm>
          <a:prstGeom prst="roundRect">
            <a:avLst>
              <a:gd name="adj" fmla="val 23077"/>
            </a:avLst>
          </a:prstGeom>
          <a:solidFill>
            <a:srgbClr val="FEE2E2"/>
          </a:solidFill>
          <a:ln w="635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8"/>
          <p:cNvSpPr/>
          <p:nvPr/>
        </p:nvSpPr>
        <p:spPr>
          <a:xfrm>
            <a:off x="6080760" y="43159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perspectiva de cierre</a:t>
            </a:r>
            <a:endParaRPr lang="en-US" sz="850" dirty="0"/>
          </a:p>
        </p:txBody>
      </p:sp>
      <p:pic>
        <p:nvPicPr>
          <p:cNvPr id="33" name="Imagen 32" descr="logoJPV2-[Convertido]">
            <a:extLst>
              <a:ext uri="{FF2B5EF4-FFF2-40B4-BE49-F238E27FC236}">
                <a16:creationId xmlns:a16="http://schemas.microsoft.com/office/drawing/2014/main" id="{0D1127F6-2AA3-72FF-4B55-452554762D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2" y="76341"/>
            <a:ext cx="1030366" cy="52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508" y="0"/>
            <a:ext cx="8065492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143000" y="164592"/>
            <a:ext cx="36576" cy="420624"/>
          </a:xfrm>
          <a:prstGeom prst="rect">
            <a:avLst/>
          </a:prstGeom>
          <a:solidFill>
            <a:srgbClr val="14A8A0"/>
          </a:solidFill>
          <a:ln w="12700">
            <a:solidFill>
              <a:srgbClr val="14A8A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1234440" y="82296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RESIDENCIA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498080" y="822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más antiguos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256032" y="896112"/>
            <a:ext cx="2724912" cy="658368"/>
          </a:xfrm>
          <a:prstGeom prst="roundRect">
            <a:avLst>
              <a:gd name="adj" fmla="val 13889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256032" y="89611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985 días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56032" y="126187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más antiguo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27248" y="896112"/>
            <a:ext cx="2724912" cy="658368"/>
          </a:xfrm>
          <a:prstGeom prst="roundRect">
            <a:avLst>
              <a:gd name="adj" fmla="val 13889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3127248" y="89611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~288 días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127248" y="126187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cartera Marsh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98464" y="896112"/>
            <a:ext cx="2724912" cy="658368"/>
          </a:xfrm>
          <a:prstGeom prst="roundRect">
            <a:avLst>
              <a:gd name="adj" fmla="val 1388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5998464" y="89611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casos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998464" y="126187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más de 600 días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471846"/>
              </p:ext>
            </p:extLst>
          </p:nvPr>
        </p:nvGraphicFramePr>
        <p:xfrm>
          <a:off x="256032" y="1622909"/>
          <a:ext cx="7644384" cy="3323995"/>
        </p:xfrm>
        <a:graphic>
          <a:graphicData uri="http://schemas.openxmlformats.org/drawingml/2006/table">
            <a:tbl>
              <a:tblPr/>
              <a:tblGrid>
                <a:gridCol w="329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44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64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Siniestro / Nickname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/ Obs.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170489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Inundaciones ago-2023 · NUEVOSUR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ajuste fines de junio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173279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Turbina CTM3 – ENGIE (Starr)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la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la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aprobación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del BI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Engie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173278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Turbina CTM3 – ENGIE (Sura)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la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la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aprobación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del BI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Engie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181558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Essbio – Inundaciones jun-2024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enviado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10/10/25 y/o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nuevas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reclamaciones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182411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Nuevosur – Inundaciones jun-2024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respuesta hasta fines junio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182774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Inundación gasoducto E. Limache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Inspección pendiente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188864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Nuevosur – Temporal ago-2024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Antecedentes a fines de julio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189752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Essbio – PTAS Cabrero (membrana)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 intermedio en proceso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198260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Essbio – Temporal Viento ago-2024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enviado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06/02/26 y/o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nuevas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reclamaciones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Autopista Central – Av. Matta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Antecedentes 1ª semana junio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8" name="Imagen 17" descr="logoJPV2-[Convertido]">
            <a:extLst>
              <a:ext uri="{FF2B5EF4-FFF2-40B4-BE49-F238E27FC236}">
                <a16:creationId xmlns:a16="http://schemas.microsoft.com/office/drawing/2014/main" id="{28053F3B-1BA6-AB0A-1512-2D4EC795B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2" y="76341"/>
            <a:ext cx="1030366" cy="52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508" y="0"/>
            <a:ext cx="8065492" cy="74980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143000" y="164592"/>
            <a:ext cx="36576" cy="420624"/>
          </a:xfrm>
          <a:prstGeom prst="rect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1234440" y="82296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CASOS QUE REQUIEREN ATENCIÓN ESPECIAL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092440" y="8229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&lt; 100%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256032" y="859536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casos con probabilidad de cierre inferior al 100% acumulan exposición significativa. Ordenados por magnitud de pérdida bruta.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419496"/>
              </p:ext>
            </p:extLst>
          </p:nvPr>
        </p:nvGraphicFramePr>
        <p:xfrm>
          <a:off x="256032" y="1188720"/>
          <a:ext cx="7671816" cy="364236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Siniestro / Nickname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/ Observaciones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173279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Turbina CTM3 – ENGIE (Starr)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IFL este mes, a espera de autorización de Engie para junio.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217415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Aerogenerador B-10 San Pedro II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 espera de antecedentes Engie. Sin movimiento reciente.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215252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Aerogenerador A-04 San Pedro 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 antecedentes Engie.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Reparación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habría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mayo,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cronograma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217298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Aerogenerador A-15 San Pedro 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 espera de antecedentes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Engie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Reparación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habría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mayo,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cronograma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182774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Inundación gasoducto E. Limache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Inspección al estero Limache pendiente.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214673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Avería bomba lejía – Wally (Engie Gas)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 espera de peritaje de DICTUC. En estudio.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170489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Inundaciones ago-2023 · NUEVOSUR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Observaciones llegaron 14-05. Para ajuste fines de junio.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188864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Nuevosur – Temporal ago-2024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Antecedentes se entregarán a fines de julio.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182411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Nuevosur – Inundaciones jun-2024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 enviado 06-02. Sin respuesta hasta fines de junio.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210959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PTAS Chimbarongo – Geomembrana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 para la próxima semana; antecedentes recibidos.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56032" y="4806856"/>
            <a:ext cx="8631936" cy="21640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 w="1016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7"/>
          <p:cNvSpPr/>
          <p:nvPr/>
        </p:nvSpPr>
        <p:spPr>
          <a:xfrm>
            <a:off x="384048" y="4818968"/>
            <a:ext cx="837590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Atención prioritaria: Caso 217415 (Aerogenerador B-10 · Prob. 0%) y tres casos Engie Parque Eólico acumulan USD &gt; 32 M sin antecedents.</a:t>
            </a:r>
            <a:endParaRPr lang="en-US" sz="850" dirty="0"/>
          </a:p>
        </p:txBody>
      </p:sp>
      <p:pic>
        <p:nvPicPr>
          <p:cNvPr id="12" name="Imagen 11" descr="logoJPV2-[Convertido]">
            <a:extLst>
              <a:ext uri="{FF2B5EF4-FFF2-40B4-BE49-F238E27FC236}">
                <a16:creationId xmlns:a16="http://schemas.microsoft.com/office/drawing/2014/main" id="{6DF5A056-E532-3CBF-EF6E-36711DA6E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2" y="76341"/>
            <a:ext cx="1030366" cy="52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508" y="0"/>
            <a:ext cx="8065492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143000" y="164592"/>
            <a:ext cx="3657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1234440" y="8229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Y FOCOS DE GESTIÓN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14A8A0"/>
          </a:solidFill>
          <a:ln w="12700">
            <a:solidFill>
              <a:srgbClr val="14A8A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256032" y="91440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0D1F38"/>
          </a:solidFill>
          <a:ln w="12700">
            <a:solidFill>
              <a:srgbClr val="991B1B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384048" y="1042416"/>
            <a:ext cx="438912" cy="438912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384048" y="1042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1005840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Reactivar casos Engie – Parque San Pedro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1353312"/>
            <a:ext cx="3328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217415, 215252 y 217298 concentran USD &gt; 32 M. Coordinar con Marsh reunión urgente con Engie para destrabar antecedentes. Meta: respuesta antes del 30 de junio.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700016" y="91440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0D1F38"/>
          </a:solidFill>
          <a:ln w="12700">
            <a:solidFill>
              <a:srgbClr val="B45309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4828032" y="1042416"/>
            <a:ext cx="438912" cy="43891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4828032" y="1042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58384" y="1005840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IFL Turbina CTM3 – ENGIE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58384" y="1353312"/>
            <a:ext cx="3328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173278/79 con 923 días y USD 27,7 M c/u. Objetivo de emisión: junio 2026.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56032" y="2423160"/>
            <a:ext cx="4114800" cy="1033272"/>
          </a:xfrm>
          <a:prstGeom prst="roundRect">
            <a:avLst>
              <a:gd name="adj" fmla="val 8000"/>
            </a:avLst>
          </a:prstGeom>
          <a:solidFill>
            <a:srgbClr val="0D1F38"/>
          </a:solidFill>
          <a:ln w="12700">
            <a:solidFill>
              <a:srgbClr val="14A8A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5"/>
          <p:cNvSpPr/>
          <p:nvPr/>
        </p:nvSpPr>
        <p:spPr>
          <a:xfrm>
            <a:off x="384048" y="2551176"/>
            <a:ext cx="438912" cy="438912"/>
          </a:xfrm>
          <a:prstGeom prst="ellipse">
            <a:avLst/>
          </a:prstGeom>
          <a:solidFill>
            <a:srgbClr val="14A8A0"/>
          </a:solidFill>
          <a:ln w="12700">
            <a:solidFill>
              <a:srgbClr val="14A8A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384048" y="2551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4400" y="2514600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Essbio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Nuevosur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Seguimiento inundaciones y temporal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14400" y="2862072"/>
            <a:ext cx="3328416" cy="367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</a:t>
            </a: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170489, 181558, 182411, 188864 y 198260. Plan de </a:t>
            </a:r>
            <a:r>
              <a:rPr lang="en-US" sz="8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8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</a:t>
            </a: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el </a:t>
            </a:r>
            <a:r>
              <a:rPr lang="en-US" sz="8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los siniestros.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700016" y="2423160"/>
            <a:ext cx="4114800" cy="1051560"/>
          </a:xfrm>
          <a:prstGeom prst="roundRect">
            <a:avLst>
              <a:gd name="adj" fmla="val 10909"/>
            </a:avLst>
          </a:prstGeom>
          <a:solidFill>
            <a:srgbClr val="0D1F38"/>
          </a:solidFill>
          <a:ln w="12700">
            <a:solidFill>
              <a:srgbClr val="06B6D4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Shape 25"/>
          <p:cNvSpPr/>
          <p:nvPr/>
        </p:nvSpPr>
        <p:spPr>
          <a:xfrm>
            <a:off x="4827850" y="2551176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5358384" y="2568646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Autopista Central – Antecedentes MOP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58202" y="2843784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200832 y 201223: licitación pendiente de aprobación. Monitorear esta semana y confirmar con Marsh.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0" y="5010912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JPV Asociados · Ajustadores Especializados  ·  Análisis al 09 de junio de 2026  ·  Cartera MARSH S.A.</a:t>
            </a:r>
            <a:endParaRPr lang="en-US" sz="800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9E522F0-7028-5760-6529-2A16F7DAC031}"/>
              </a:ext>
            </a:extLst>
          </p:cNvPr>
          <p:cNvSpPr/>
          <p:nvPr/>
        </p:nvSpPr>
        <p:spPr>
          <a:xfrm>
            <a:off x="0" y="0"/>
            <a:ext cx="1078508" cy="7498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3" name="Imagen 32" descr="logoJPV2-[Convertido]">
            <a:extLst>
              <a:ext uri="{FF2B5EF4-FFF2-40B4-BE49-F238E27FC236}">
                <a16:creationId xmlns:a16="http://schemas.microsoft.com/office/drawing/2014/main" id="{980CD234-71E7-9287-E562-AA41CA847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2" y="76341"/>
            <a:ext cx="1030366" cy="5282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hape 24">
            <a:extLst>
              <a:ext uri="{FF2B5EF4-FFF2-40B4-BE49-F238E27FC236}">
                <a16:creationId xmlns:a16="http://schemas.microsoft.com/office/drawing/2014/main" id="{C8150EE9-B294-02C6-4D5B-07859B28C06E}"/>
              </a:ext>
            </a:extLst>
          </p:cNvPr>
          <p:cNvSpPr/>
          <p:nvPr/>
        </p:nvSpPr>
        <p:spPr>
          <a:xfrm>
            <a:off x="2438400" y="3679972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0D1F38"/>
          </a:solidFill>
          <a:ln w="12700">
            <a:solidFill>
              <a:srgbClr val="06B6D4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5" name="Shape 25">
            <a:extLst>
              <a:ext uri="{FF2B5EF4-FFF2-40B4-BE49-F238E27FC236}">
                <a16:creationId xmlns:a16="http://schemas.microsoft.com/office/drawing/2014/main" id="{7071BB26-A1CE-27A0-CAA6-70BB2E062933}"/>
              </a:ext>
            </a:extLst>
          </p:cNvPr>
          <p:cNvSpPr/>
          <p:nvPr/>
        </p:nvSpPr>
        <p:spPr>
          <a:xfrm>
            <a:off x="2542032" y="3766840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67AEC059-6D89-254C-9FCC-412E3A7DBB1A}"/>
              </a:ext>
            </a:extLst>
          </p:cNvPr>
          <p:cNvSpPr/>
          <p:nvPr/>
        </p:nvSpPr>
        <p:spPr>
          <a:xfrm>
            <a:off x="3072384" y="4069470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 comprometió el envío de un primer lote de antecedentes que ya ha recopilado de lo solicitado (Reparaciones de emergencia efectuadas) Aun no se licitan las reparaciones definitivas</a:t>
            </a:r>
            <a:endParaRPr lang="en-US" sz="800" dirty="0"/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4CB8351E-BBC4-04FE-E941-DFEC8C9F6976}"/>
              </a:ext>
            </a:extLst>
          </p:cNvPr>
          <p:cNvSpPr/>
          <p:nvPr/>
        </p:nvSpPr>
        <p:spPr>
          <a:xfrm>
            <a:off x="2523562" y="375687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1001B292-5914-2C21-F248-CACF3D020929}"/>
              </a:ext>
            </a:extLst>
          </p:cNvPr>
          <p:cNvSpPr/>
          <p:nvPr/>
        </p:nvSpPr>
        <p:spPr>
          <a:xfrm>
            <a:off x="3066106" y="3749430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Autopista Central –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Deflagración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Incendio camion LPG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28032" y="2551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078508" y="0"/>
            <a:ext cx="8065492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143000" y="164592"/>
            <a:ext cx="36576" cy="420624"/>
          </a:xfrm>
          <a:prstGeom prst="rect">
            <a:avLst/>
          </a:prstGeom>
          <a:solidFill>
            <a:srgbClr val="14A8A0"/>
          </a:solidFill>
          <a:ln w="12700">
            <a:solidFill>
              <a:srgbClr val="14A8A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1234440" y="82296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RESIDENCIA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498080" y="822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más antiguos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256032" y="896112"/>
            <a:ext cx="2724912" cy="658368"/>
          </a:xfrm>
          <a:prstGeom prst="roundRect">
            <a:avLst>
              <a:gd name="adj" fmla="val 13889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256032" y="89611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985 días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56032" y="126187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más antiguo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27248" y="896112"/>
            <a:ext cx="2724912" cy="658368"/>
          </a:xfrm>
          <a:prstGeom prst="roundRect">
            <a:avLst>
              <a:gd name="adj" fmla="val 13889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3127248" y="89611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~288 días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127248" y="126187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cartera Marsh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98464" y="896112"/>
            <a:ext cx="2724912" cy="658368"/>
          </a:xfrm>
          <a:prstGeom prst="roundRect">
            <a:avLst>
              <a:gd name="adj" fmla="val 1388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5998464" y="89611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casos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998464" y="126187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más de 600 días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471846"/>
              </p:ext>
            </p:extLst>
          </p:nvPr>
        </p:nvGraphicFramePr>
        <p:xfrm>
          <a:off x="256032" y="1622909"/>
          <a:ext cx="7644384" cy="3323995"/>
        </p:xfrm>
        <a:graphic>
          <a:graphicData uri="http://schemas.openxmlformats.org/drawingml/2006/table">
            <a:tbl>
              <a:tblPr/>
              <a:tblGrid>
                <a:gridCol w="329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44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64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Siniestro / Nickname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/ Obs.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170489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Inundaciones ago-2023 · NUEVOSUR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ajuste fines de junio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173279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Turbina CTM3 – ENGIE (Starr)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la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la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aprobación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del BI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Engie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173278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Turbina CTM3 – ENGIE (Sura)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la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la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aprobación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del BI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baseline="0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</a:t>
                      </a:r>
                      <a:r>
                        <a:rPr lang="en-US" sz="750" i="1" baseline="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Engie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181558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Essbio – Inundaciones jun-2024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enviado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10/10/25 y/o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nuevas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reclamaciones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182411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Nuevosur – Inundaciones jun-2024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respuesta hasta fines junio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182774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Inundación gasoducto E. Limache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Inspección pendiente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188864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Nuevosur – Temporal ago-2024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Antecedentes a fines de julio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189752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Essbio – PTAS Cabrero (membrana)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 intermedio en proceso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198260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Essbio – Temporal Viento ago-2024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enviado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06/02/26 y/o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nuevas</a:t>
                      </a: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i="1" dirty="0" err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reclamaciones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Autopista Central – Av. Matta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Antecedentes 1ª semana junio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8" name="Imagen 17" descr="logoJPV2-[Convertido]">
            <a:extLst>
              <a:ext uri="{FF2B5EF4-FFF2-40B4-BE49-F238E27FC236}">
                <a16:creationId xmlns:a16="http://schemas.microsoft.com/office/drawing/2014/main" id="{28053F3B-1BA6-AB0A-1512-2D4EC795B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2" y="76341"/>
            <a:ext cx="1030366" cy="52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Words>930</Words>
  <Application>Microsoft Office PowerPoint</Application>
  <PresentationFormat>Presentación en pantalla (16:9)</PresentationFormat>
  <Paragraphs>248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Estado Cartera MARSH – JPV Asociados</dc:title>
  <dc:subject>PptxGenJS Presentation</dc:subject>
  <dc:creator>PptxGenJS</dc:creator>
  <cp:lastModifiedBy>Dagoberto  Perez</cp:lastModifiedBy>
  <cp:revision>6</cp:revision>
  <dcterms:created xsi:type="dcterms:W3CDTF">2026-06-09T16:00:54Z</dcterms:created>
  <dcterms:modified xsi:type="dcterms:W3CDTF">2026-06-09T21:27:11Z</dcterms:modified>
</cp:coreProperties>
</file>